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rimo" panose="020B0604020202020204" charset="0"/>
      <p:regular r:id="rId17"/>
    </p:embeddedFont>
    <p:embeddedFont>
      <p:font typeface="Arimo Bold" panose="020B0604020202020204" charset="0"/>
      <p:regular r:id="rId18"/>
    </p:embeddedFont>
    <p:embeddedFont>
      <p:font typeface="DM Serif Display" pitchFamily="2" charset="0"/>
      <p:regular r:id="rId19"/>
    </p:embeddedFont>
    <p:embeddedFont>
      <p:font typeface="Garet" panose="020B0604020202020204" charset="0"/>
      <p:regular r:id="rId20"/>
    </p:embeddedFont>
    <p:embeddedFont>
      <p:font typeface="Garet Bold" panose="020B0604020202020204" charset="0"/>
      <p:regular r:id="rId21"/>
    </p:embeddedFont>
    <p:embeddedFont>
      <p:font typeface="Garet Ultra-Bold" panose="020B0604020202020204" charset="0"/>
      <p:regular r:id="rId22"/>
    </p:embeddedFont>
    <p:embeddedFont>
      <p:font typeface="Inter" panose="020B0604020202020204" charset="0"/>
      <p:regular r:id="rId23"/>
    </p:embeddedFont>
    <p:embeddedFont>
      <p:font typeface="Inter Bold" panose="020B0604020202020204" charset="0"/>
      <p:regular r:id="rId24"/>
    </p:embeddedFont>
    <p:embeddedFont>
      <p:font typeface="Luktao" panose="020B0604020202020204" charset="-34"/>
      <p:regular r:id="rId25"/>
    </p:embeddedFont>
    <p:embeddedFont>
      <p:font typeface="Luktao Bold" panose="020B0604020202020204" charset="-34"/>
      <p:regular r:id="rId26"/>
    </p:embeddedFont>
    <p:embeddedFont>
      <p:font typeface="Open Sans" panose="020B0606030504020204" pitchFamily="34" charset="0"/>
      <p:regular r:id="rId27"/>
    </p:embeddedFont>
    <p:embeddedFont>
      <p:font typeface="Playfair Display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10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abs/2304.06037" TargetMode="External"/><Relationship Id="rId2" Type="http://schemas.openxmlformats.org/officeDocument/2006/relationships/hyperlink" Target="https://www.mdpi.com/2673-2688/6/8/183"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ojs.aaai.org/index.php/AAAI/article/view/28456"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59300" y="6541049"/>
            <a:ext cx="1028700" cy="3745951"/>
            <a:chOff x="0" y="0"/>
            <a:chExt cx="812800" cy="2959764"/>
          </a:xfrm>
        </p:grpSpPr>
        <p:sp>
          <p:nvSpPr>
            <p:cNvPr id="3" name="Freeform 3"/>
            <p:cNvSpPr/>
            <p:nvPr/>
          </p:nvSpPr>
          <p:spPr>
            <a:xfrm>
              <a:off x="0" y="0"/>
              <a:ext cx="812800" cy="2959764"/>
            </a:xfrm>
            <a:custGeom>
              <a:avLst/>
              <a:gdLst/>
              <a:ahLst/>
              <a:cxnLst/>
              <a:rect l="l" t="t" r="r" b="b"/>
              <a:pathLst>
                <a:path w="812800" h="2959764">
                  <a:moveTo>
                    <a:pt x="0" y="0"/>
                  </a:moveTo>
                  <a:lnTo>
                    <a:pt x="812800" y="0"/>
                  </a:lnTo>
                  <a:lnTo>
                    <a:pt x="812800" y="2959764"/>
                  </a:lnTo>
                  <a:lnTo>
                    <a:pt x="0" y="2959764"/>
                  </a:lnTo>
                  <a:close/>
                </a:path>
              </a:pathLst>
            </a:custGeom>
            <a:solidFill>
              <a:srgbClr val="0345E4"/>
            </a:solidFill>
          </p:spPr>
        </p:sp>
        <p:sp>
          <p:nvSpPr>
            <p:cNvPr id="4" name="TextBox 4"/>
            <p:cNvSpPr txBox="1"/>
            <p:nvPr/>
          </p:nvSpPr>
          <p:spPr>
            <a:xfrm>
              <a:off x="0" y="-38100"/>
              <a:ext cx="812800" cy="299786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6541049"/>
            <a:ext cx="17259300" cy="3745951"/>
            <a:chOff x="0" y="0"/>
            <a:chExt cx="13636978" cy="2959764"/>
          </a:xfrm>
        </p:grpSpPr>
        <p:sp>
          <p:nvSpPr>
            <p:cNvPr id="6" name="Freeform 6"/>
            <p:cNvSpPr/>
            <p:nvPr/>
          </p:nvSpPr>
          <p:spPr>
            <a:xfrm>
              <a:off x="0" y="0"/>
              <a:ext cx="13636978" cy="2959764"/>
            </a:xfrm>
            <a:custGeom>
              <a:avLst/>
              <a:gdLst/>
              <a:ahLst/>
              <a:cxnLst/>
              <a:rect l="l" t="t" r="r" b="b"/>
              <a:pathLst>
                <a:path w="13636978" h="2959764">
                  <a:moveTo>
                    <a:pt x="0" y="0"/>
                  </a:moveTo>
                  <a:lnTo>
                    <a:pt x="13636978" y="0"/>
                  </a:lnTo>
                  <a:lnTo>
                    <a:pt x="13636978" y="2959764"/>
                  </a:lnTo>
                  <a:lnTo>
                    <a:pt x="0" y="2959764"/>
                  </a:lnTo>
                  <a:close/>
                </a:path>
              </a:pathLst>
            </a:custGeom>
            <a:solidFill>
              <a:srgbClr val="F6F6F6"/>
            </a:solidFill>
          </p:spPr>
        </p:sp>
        <p:sp>
          <p:nvSpPr>
            <p:cNvPr id="7" name="TextBox 7"/>
            <p:cNvSpPr txBox="1"/>
            <p:nvPr/>
          </p:nvSpPr>
          <p:spPr>
            <a:xfrm>
              <a:off x="0" y="-38100"/>
              <a:ext cx="13636978" cy="299786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7259300" y="0"/>
            <a:ext cx="1028700" cy="1028700"/>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0"/>
            <a:ext cx="1084878" cy="10287000"/>
            <a:chOff x="0" y="0"/>
            <a:chExt cx="285729" cy="2709333"/>
          </a:xfrm>
        </p:grpSpPr>
        <p:sp>
          <p:nvSpPr>
            <p:cNvPr id="12" name="Freeform 12"/>
            <p:cNvSpPr/>
            <p:nvPr/>
          </p:nvSpPr>
          <p:spPr>
            <a:xfrm>
              <a:off x="0" y="0"/>
              <a:ext cx="285729" cy="2709333"/>
            </a:xfrm>
            <a:custGeom>
              <a:avLst/>
              <a:gdLst/>
              <a:ahLst/>
              <a:cxnLst/>
              <a:rect l="l" t="t" r="r" b="b"/>
              <a:pathLst>
                <a:path w="285729" h="2709333">
                  <a:moveTo>
                    <a:pt x="142865" y="0"/>
                  </a:moveTo>
                  <a:lnTo>
                    <a:pt x="142865" y="0"/>
                  </a:lnTo>
                  <a:cubicBezTo>
                    <a:pt x="221767" y="0"/>
                    <a:pt x="285729" y="63963"/>
                    <a:pt x="285729" y="142865"/>
                  </a:cubicBezTo>
                  <a:lnTo>
                    <a:pt x="285729" y="2566469"/>
                  </a:lnTo>
                  <a:cubicBezTo>
                    <a:pt x="285729" y="2645371"/>
                    <a:pt x="221767" y="2709333"/>
                    <a:pt x="142865" y="2709333"/>
                  </a:cubicBezTo>
                  <a:lnTo>
                    <a:pt x="142865" y="2709333"/>
                  </a:lnTo>
                  <a:cubicBezTo>
                    <a:pt x="63963" y="2709333"/>
                    <a:pt x="0" y="2645371"/>
                    <a:pt x="0" y="2566469"/>
                  </a:cubicBezTo>
                  <a:lnTo>
                    <a:pt x="0" y="142865"/>
                  </a:lnTo>
                  <a:cubicBezTo>
                    <a:pt x="0" y="63963"/>
                    <a:pt x="63963" y="0"/>
                    <a:pt x="142865" y="0"/>
                  </a:cubicBezTo>
                  <a:close/>
                </a:path>
              </a:pathLst>
            </a:custGeom>
            <a:solidFill>
              <a:srgbClr val="0345E4"/>
            </a:solidFill>
          </p:spPr>
        </p:sp>
        <p:sp>
          <p:nvSpPr>
            <p:cNvPr id="13" name="TextBox 13"/>
            <p:cNvSpPr txBox="1"/>
            <p:nvPr/>
          </p:nvSpPr>
          <p:spPr>
            <a:xfrm>
              <a:off x="0" y="-38100"/>
              <a:ext cx="285729" cy="2747433"/>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665351" y="6540414"/>
            <a:ext cx="12571749" cy="3258608"/>
          </a:xfrm>
          <a:prstGeom prst="rect">
            <a:avLst/>
          </a:prstGeom>
        </p:spPr>
        <p:txBody>
          <a:bodyPr lIns="0" tIns="0" rIns="0" bIns="0" rtlCol="0" anchor="t">
            <a:spAutoFit/>
          </a:bodyPr>
          <a:lstStyle/>
          <a:p>
            <a:pPr algn="l">
              <a:lnSpc>
                <a:spcPts val="5191"/>
              </a:lnSpc>
            </a:pPr>
            <a:r>
              <a:rPr lang="en-US" sz="3708" u="sng">
                <a:solidFill>
                  <a:srgbClr val="000000"/>
                </a:solidFill>
                <a:latin typeface="DM Serif Display"/>
                <a:ea typeface="DM Serif Display"/>
                <a:cs typeface="DM Serif Display"/>
                <a:sym typeface="DM Serif Display"/>
              </a:rPr>
              <a:t>TEAM MEMBERS</a:t>
            </a:r>
          </a:p>
          <a:p>
            <a:pPr algn="l">
              <a:lnSpc>
                <a:spcPts val="5191"/>
              </a:lnSpc>
            </a:pPr>
            <a:r>
              <a:rPr lang="en-US" sz="3708">
                <a:solidFill>
                  <a:srgbClr val="000000"/>
                </a:solidFill>
                <a:latin typeface="DM Serif Display"/>
                <a:ea typeface="DM Serif Display"/>
                <a:cs typeface="DM Serif Display"/>
                <a:sym typeface="DM Serif Display"/>
              </a:rPr>
              <a:t>1. ISHIKA GUPTA(2301AI10)</a:t>
            </a:r>
          </a:p>
          <a:p>
            <a:pPr algn="l">
              <a:lnSpc>
                <a:spcPts val="5191"/>
              </a:lnSpc>
            </a:pPr>
            <a:r>
              <a:rPr lang="en-US" sz="3708">
                <a:solidFill>
                  <a:srgbClr val="000000"/>
                </a:solidFill>
                <a:latin typeface="DM Serif Display"/>
                <a:ea typeface="DM Serif Display"/>
                <a:cs typeface="DM Serif Display"/>
                <a:sym typeface="DM Serif Display"/>
              </a:rPr>
              <a:t>2.SAKSHI SAXENA(2301CS45)</a:t>
            </a:r>
          </a:p>
          <a:p>
            <a:pPr algn="l">
              <a:lnSpc>
                <a:spcPts val="5191"/>
              </a:lnSpc>
            </a:pPr>
            <a:r>
              <a:rPr lang="en-US" sz="3708">
                <a:solidFill>
                  <a:srgbClr val="000000"/>
                </a:solidFill>
                <a:latin typeface="DM Serif Display"/>
                <a:ea typeface="DM Serif Display"/>
                <a:cs typeface="DM Serif Display"/>
                <a:sym typeface="DM Serif Display"/>
              </a:rPr>
              <a:t>3.MANSHI PRAJAPATI(2302CS08)</a:t>
            </a:r>
          </a:p>
          <a:p>
            <a:pPr algn="l">
              <a:lnSpc>
                <a:spcPts val="5191"/>
              </a:lnSpc>
              <a:spcBef>
                <a:spcPct val="0"/>
              </a:spcBef>
            </a:pPr>
            <a:r>
              <a:rPr lang="en-US" sz="3708">
                <a:solidFill>
                  <a:srgbClr val="000000"/>
                </a:solidFill>
                <a:latin typeface="DM Serif Display"/>
                <a:ea typeface="DM Serif Display"/>
                <a:cs typeface="DM Serif Display"/>
                <a:sym typeface="DM Serif Display"/>
              </a:rPr>
              <a:t>4.SHIWANI SHRIVASTAVA(2301CS67)</a:t>
            </a:r>
          </a:p>
        </p:txBody>
      </p:sp>
      <p:sp>
        <p:nvSpPr>
          <p:cNvPr id="15" name="TextBox 15"/>
          <p:cNvSpPr txBox="1"/>
          <p:nvPr/>
        </p:nvSpPr>
        <p:spPr>
          <a:xfrm>
            <a:off x="5576559" y="3671435"/>
            <a:ext cx="7254493" cy="953135"/>
          </a:xfrm>
          <a:prstGeom prst="rect">
            <a:avLst/>
          </a:prstGeom>
        </p:spPr>
        <p:txBody>
          <a:bodyPr lIns="0" tIns="0" rIns="0" bIns="0" rtlCol="0" anchor="t">
            <a:spAutoFit/>
          </a:bodyPr>
          <a:lstStyle/>
          <a:p>
            <a:pPr algn="ctr">
              <a:lnSpc>
                <a:spcPts val="7840"/>
              </a:lnSpc>
              <a:spcBef>
                <a:spcPct val="0"/>
              </a:spcBef>
            </a:pPr>
            <a:r>
              <a:rPr lang="en-US" sz="5600">
                <a:solidFill>
                  <a:srgbClr val="000000"/>
                </a:solidFill>
                <a:latin typeface="DM Serif Display"/>
                <a:ea typeface="DM Serif Display"/>
                <a:cs typeface="DM Serif Display"/>
                <a:sym typeface="DM Serif Display"/>
              </a:rPr>
              <a:t>CS3103</a:t>
            </a:r>
          </a:p>
        </p:txBody>
      </p:sp>
      <p:sp>
        <p:nvSpPr>
          <p:cNvPr id="16" name="TextBox 16"/>
          <p:cNvSpPr txBox="1"/>
          <p:nvPr/>
        </p:nvSpPr>
        <p:spPr>
          <a:xfrm>
            <a:off x="1950174" y="895350"/>
            <a:ext cx="15309126" cy="2396963"/>
          </a:xfrm>
          <a:prstGeom prst="rect">
            <a:avLst/>
          </a:prstGeom>
        </p:spPr>
        <p:txBody>
          <a:bodyPr lIns="0" tIns="0" rIns="0" bIns="0" rtlCol="0" anchor="t">
            <a:spAutoFit/>
          </a:bodyPr>
          <a:lstStyle/>
          <a:p>
            <a:pPr algn="ctr">
              <a:lnSpc>
                <a:spcPts val="9633"/>
              </a:lnSpc>
            </a:pPr>
            <a:r>
              <a:rPr lang="en-US" sz="6881" b="1">
                <a:solidFill>
                  <a:srgbClr val="000000"/>
                </a:solidFill>
                <a:latin typeface="Playfair Display Bold"/>
                <a:ea typeface="Playfair Display Bold"/>
                <a:cs typeface="Playfair Display Bold"/>
                <a:sym typeface="Playfair Display Bold"/>
              </a:rPr>
              <a:t>ALGORITHMIC TRADING USING REINFORCEMENT LEARNING</a:t>
            </a:r>
          </a:p>
        </p:txBody>
      </p:sp>
      <p:sp>
        <p:nvSpPr>
          <p:cNvPr id="17" name="TextBox 17"/>
          <p:cNvSpPr txBox="1"/>
          <p:nvPr/>
        </p:nvSpPr>
        <p:spPr>
          <a:xfrm>
            <a:off x="6808723" y="5382809"/>
            <a:ext cx="4670554" cy="738506"/>
          </a:xfrm>
          <a:prstGeom prst="rect">
            <a:avLst/>
          </a:prstGeom>
        </p:spPr>
        <p:txBody>
          <a:bodyPr lIns="0" tIns="0" rIns="0" bIns="0" rtlCol="0" anchor="t">
            <a:spAutoFit/>
          </a:bodyPr>
          <a:lstStyle/>
          <a:p>
            <a:pPr algn="ctr">
              <a:lnSpc>
                <a:spcPts val="6019"/>
              </a:lnSpc>
              <a:spcBef>
                <a:spcPct val="0"/>
              </a:spcBef>
            </a:pPr>
            <a:r>
              <a:rPr lang="en-US" sz="4299" u="sng">
                <a:solidFill>
                  <a:srgbClr val="000000"/>
                </a:solidFill>
                <a:latin typeface="DM Serif Display"/>
                <a:ea typeface="DM Serif Display"/>
                <a:cs typeface="DM Serif Display"/>
                <a:sym typeface="DM Serif Display"/>
              </a:rPr>
              <a:t>GROUP ID:</a:t>
            </a:r>
            <a:r>
              <a:rPr lang="en-US" sz="4299">
                <a:solidFill>
                  <a:srgbClr val="000000"/>
                </a:solidFill>
                <a:latin typeface="DM Serif Display"/>
                <a:ea typeface="DM Serif Display"/>
                <a:cs typeface="DM Serif Display"/>
                <a:sym typeface="DM Serif Display"/>
              </a:rPr>
              <a:t>  25SM03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437" y="361701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303774" y="3623910"/>
            <a:ext cx="2743103" cy="389255"/>
          </a:xfrm>
          <a:prstGeom prst="rect">
            <a:avLst/>
          </a:prstGeom>
        </p:spPr>
        <p:txBody>
          <a:bodyPr lIns="0" tIns="0" rIns="0" bIns="0" rtlCol="0" anchor="t">
            <a:spAutoFit/>
          </a:bodyPr>
          <a:lstStyle/>
          <a:p>
            <a:pPr algn="l">
              <a:lnSpc>
                <a:spcPts val="3220"/>
              </a:lnSpc>
            </a:pPr>
            <a:r>
              <a:rPr lang="en-US" sz="2300" b="1">
                <a:solidFill>
                  <a:srgbClr val="FFFFFF"/>
                </a:solidFill>
                <a:latin typeface="Garet Bold"/>
                <a:ea typeface="Garet Bold"/>
                <a:cs typeface="Garet Bold"/>
                <a:sym typeface="Garet Bold"/>
              </a:rPr>
              <a:t>Thynk Unlimited</a:t>
            </a:r>
          </a:p>
        </p:txBody>
      </p:sp>
      <p:graphicFrame>
        <p:nvGraphicFramePr>
          <p:cNvPr id="4" name="Table 4"/>
          <p:cNvGraphicFramePr>
            <a:graphicFrameLocks noGrp="1"/>
          </p:cNvGraphicFramePr>
          <p:nvPr/>
        </p:nvGraphicFramePr>
        <p:xfrm>
          <a:off x="1028700" y="1270847"/>
          <a:ext cx="16230600" cy="9016153"/>
        </p:xfrm>
        <a:graphic>
          <a:graphicData uri="http://schemas.openxmlformats.org/drawingml/2006/table">
            <a:tbl>
              <a:tblPr/>
              <a:tblGrid>
                <a:gridCol w="3560842">
                  <a:extLst>
                    <a:ext uri="{9D8B030D-6E8A-4147-A177-3AD203B41FA5}">
                      <a16:colId xmlns:a16="http://schemas.microsoft.com/office/drawing/2014/main" val="20000"/>
                    </a:ext>
                  </a:extLst>
                </a:gridCol>
                <a:gridCol w="2358562">
                  <a:extLst>
                    <a:ext uri="{9D8B030D-6E8A-4147-A177-3AD203B41FA5}">
                      <a16:colId xmlns:a16="http://schemas.microsoft.com/office/drawing/2014/main" val="20001"/>
                    </a:ext>
                  </a:extLst>
                </a:gridCol>
                <a:gridCol w="10311196">
                  <a:extLst>
                    <a:ext uri="{9D8B030D-6E8A-4147-A177-3AD203B41FA5}">
                      <a16:colId xmlns:a16="http://schemas.microsoft.com/office/drawing/2014/main" val="20002"/>
                    </a:ext>
                  </a:extLst>
                </a:gridCol>
              </a:tblGrid>
              <a:tr h="1233939">
                <a:tc>
                  <a:txBody>
                    <a:bodyPr/>
                    <a:lstStyle/>
                    <a:p>
                      <a:pPr algn="ctr">
                        <a:lnSpc>
                          <a:spcPts val="4480"/>
                        </a:lnSpc>
                        <a:defRPr/>
                      </a:pPr>
                      <a:r>
                        <a:rPr lang="en-US" sz="3200" b="1">
                          <a:solidFill>
                            <a:srgbClr val="000000"/>
                          </a:solidFill>
                          <a:latin typeface="Luktao Bold"/>
                          <a:ea typeface="Luktao Bold"/>
                          <a:cs typeface="Luktao Bold"/>
                          <a:sym typeface="Luktao Bold"/>
                        </a:rPr>
                        <a:t>Name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80"/>
                        </a:lnSpc>
                        <a:defRPr/>
                      </a:pPr>
                      <a:r>
                        <a:rPr lang="en-US" sz="3200" b="1">
                          <a:solidFill>
                            <a:srgbClr val="000000"/>
                          </a:solidFill>
                          <a:latin typeface="Luktao Bold"/>
                          <a:ea typeface="Luktao Bold"/>
                          <a:cs typeface="Luktao Bold"/>
                          <a:sym typeface="Luktao Bold"/>
                        </a:rPr>
                        <a:t>Roll 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80"/>
                        </a:lnSpc>
                        <a:defRPr/>
                      </a:pPr>
                      <a:r>
                        <a:rPr lang="en-US" sz="3200" b="1">
                          <a:solidFill>
                            <a:srgbClr val="000000"/>
                          </a:solidFill>
                          <a:latin typeface="Luktao Bold"/>
                          <a:ea typeface="Luktao Bold"/>
                          <a:cs typeface="Luktao Bold"/>
                          <a:sym typeface="Luktao Bold"/>
                        </a:rPr>
                        <a:t>Roles and Responsibilities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727035">
                <a:tc>
                  <a:txBody>
                    <a:bodyPr/>
                    <a:lstStyle/>
                    <a:p>
                      <a:pPr algn="ctr">
                        <a:lnSpc>
                          <a:spcPts val="4480"/>
                        </a:lnSpc>
                        <a:defRPr/>
                      </a:pPr>
                      <a:r>
                        <a:rPr lang="en-US" sz="3200">
                          <a:solidFill>
                            <a:srgbClr val="000000"/>
                          </a:solidFill>
                          <a:latin typeface="Luktao"/>
                          <a:ea typeface="Luktao"/>
                          <a:cs typeface="Luktao"/>
                          <a:sym typeface="Luktao"/>
                        </a:rPr>
                        <a:t>Sakshi Saxena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80"/>
                        </a:lnSpc>
                        <a:defRPr/>
                      </a:pPr>
                      <a:r>
                        <a:rPr lang="en-US" sz="3200">
                          <a:solidFill>
                            <a:srgbClr val="000000"/>
                          </a:solidFill>
                          <a:latin typeface="Luktao"/>
                          <a:ea typeface="Luktao"/>
                          <a:cs typeface="Luktao"/>
                          <a:sym typeface="Luktao"/>
                        </a:rPr>
                        <a:t>2301CS45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Arimo"/>
                          <a:ea typeface="Arimo"/>
                          <a:cs typeface="Arimo"/>
                          <a:sym typeface="Arimo"/>
                        </a:rPr>
                        <a:t>Handled </a:t>
                      </a:r>
                      <a:r>
                        <a:rPr lang="en-US" sz="2299" b="1">
                          <a:solidFill>
                            <a:srgbClr val="000000"/>
                          </a:solidFill>
                          <a:latin typeface="Arimo Bold"/>
                          <a:ea typeface="Arimo Bold"/>
                          <a:cs typeface="Arimo Bold"/>
                          <a:sym typeface="Arimo Bold"/>
                        </a:rPr>
                        <a:t>data preprocessing</a:t>
                      </a:r>
                      <a:r>
                        <a:rPr lang="en-US" sz="2299">
                          <a:solidFill>
                            <a:srgbClr val="000000"/>
                          </a:solidFill>
                          <a:latin typeface="Arimo"/>
                          <a:ea typeface="Arimo"/>
                          <a:cs typeface="Arimo"/>
                          <a:sym typeface="Arimo"/>
                        </a:rPr>
                        <a:t> and dataset preparation for both algorithms.</a:t>
                      </a:r>
                      <a:endParaRPr lang="en-US" sz="1100"/>
                    </a:p>
                    <a:p>
                      <a:pPr algn="l">
                        <a:lnSpc>
                          <a:spcPts val="3219"/>
                        </a:lnSpc>
                      </a:pPr>
                      <a:r>
                        <a:rPr lang="en-US" sz="2299">
                          <a:solidFill>
                            <a:srgbClr val="000000"/>
                          </a:solidFill>
                          <a:latin typeface="Arimo"/>
                          <a:ea typeface="Arimo"/>
                          <a:cs typeface="Arimo"/>
                          <a:sym typeface="Arimo"/>
                        </a:rPr>
                        <a:t>Worked on </a:t>
                      </a:r>
                      <a:r>
                        <a:rPr lang="en-US" sz="2299" b="1">
                          <a:solidFill>
                            <a:srgbClr val="000000"/>
                          </a:solidFill>
                          <a:latin typeface="Arimo Bold"/>
                          <a:ea typeface="Arimo Bold"/>
                          <a:cs typeface="Arimo Bold"/>
                          <a:sym typeface="Arimo Bold"/>
                        </a:rPr>
                        <a:t>DQN training and tuning</a:t>
                      </a:r>
                      <a:r>
                        <a:rPr lang="en-US" sz="2299">
                          <a:solidFill>
                            <a:srgbClr val="000000"/>
                          </a:solidFill>
                          <a:latin typeface="Arimo"/>
                          <a:ea typeface="Arimo"/>
                          <a:cs typeface="Arimo"/>
                          <a:sym typeface="Arimo"/>
                        </a:rPr>
                        <a:t> for stable performance.</a:t>
                      </a:r>
                    </a:p>
                    <a:p>
                      <a:pPr algn="l">
                        <a:lnSpc>
                          <a:spcPts val="3219"/>
                        </a:lnSpc>
                      </a:pPr>
                      <a:r>
                        <a:rPr lang="en-US" sz="2299">
                          <a:solidFill>
                            <a:srgbClr val="000000"/>
                          </a:solidFill>
                          <a:latin typeface="Arimo"/>
                          <a:ea typeface="Arimo"/>
                          <a:cs typeface="Arimo"/>
                          <a:sym typeface="Arimo"/>
                        </a:rPr>
                        <a:t>Wrote the </a:t>
                      </a:r>
                      <a:r>
                        <a:rPr lang="en-US" sz="2299" b="1">
                          <a:solidFill>
                            <a:srgbClr val="000000"/>
                          </a:solidFill>
                          <a:latin typeface="Arimo Bold"/>
                          <a:ea typeface="Arimo Bold"/>
                          <a:cs typeface="Arimo Bold"/>
                          <a:sym typeface="Arimo Bold"/>
                        </a:rPr>
                        <a:t>Introduction</a:t>
                      </a:r>
                      <a:r>
                        <a:rPr lang="en-US" sz="2299">
                          <a:solidFill>
                            <a:srgbClr val="000000"/>
                          </a:solidFill>
                          <a:latin typeface="Arimo"/>
                          <a:ea typeface="Arimo"/>
                          <a:cs typeface="Arimo"/>
                          <a:sym typeface="Arimo"/>
                        </a:rPr>
                        <a:t> and </a:t>
                      </a:r>
                      <a:r>
                        <a:rPr lang="en-US" sz="2299" b="1">
                          <a:solidFill>
                            <a:srgbClr val="000000"/>
                          </a:solidFill>
                          <a:latin typeface="Arimo Bold"/>
                          <a:ea typeface="Arimo Bold"/>
                          <a:cs typeface="Arimo Bold"/>
                          <a:sym typeface="Arimo Bold"/>
                        </a:rPr>
                        <a:t>Related Work</a:t>
                      </a:r>
                      <a:r>
                        <a:rPr lang="en-US" sz="2299">
                          <a:solidFill>
                            <a:srgbClr val="000000"/>
                          </a:solidFill>
                          <a:latin typeface="Arimo"/>
                          <a:ea typeface="Arimo"/>
                          <a:cs typeface="Arimo"/>
                          <a:sym typeface="Arimo"/>
                        </a:rPr>
                        <a:t> sections of the report.</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93080">
                <a:tc>
                  <a:txBody>
                    <a:bodyPr/>
                    <a:lstStyle/>
                    <a:p>
                      <a:pPr algn="ctr">
                        <a:lnSpc>
                          <a:spcPts val="4480"/>
                        </a:lnSpc>
                        <a:defRPr/>
                      </a:pPr>
                      <a:r>
                        <a:rPr lang="en-US" sz="3200">
                          <a:solidFill>
                            <a:srgbClr val="000000"/>
                          </a:solidFill>
                          <a:latin typeface="Luktao"/>
                          <a:ea typeface="Luktao"/>
                          <a:cs typeface="Luktao"/>
                          <a:sym typeface="Luktao"/>
                        </a:rPr>
                        <a:t>Ishika Gupta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80"/>
                        </a:lnSpc>
                        <a:defRPr/>
                      </a:pPr>
                      <a:r>
                        <a:rPr lang="en-US" sz="3200">
                          <a:solidFill>
                            <a:srgbClr val="000000"/>
                          </a:solidFill>
                          <a:latin typeface="Luktao"/>
                          <a:ea typeface="Luktao"/>
                          <a:cs typeface="Luktao"/>
                          <a:sym typeface="Luktao"/>
                        </a:rPr>
                        <a:t>2301AI10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Arimo"/>
                          <a:ea typeface="Arimo"/>
                          <a:cs typeface="Arimo"/>
                          <a:sym typeface="Arimo"/>
                        </a:rPr>
                        <a:t>Designed the </a:t>
                      </a:r>
                      <a:r>
                        <a:rPr lang="en-US" sz="2299" b="1">
                          <a:solidFill>
                            <a:srgbClr val="000000"/>
                          </a:solidFill>
                          <a:latin typeface="Arimo Bold"/>
                          <a:ea typeface="Arimo Bold"/>
                          <a:cs typeface="Arimo Bold"/>
                          <a:sym typeface="Arimo Bold"/>
                        </a:rPr>
                        <a:t>DQN architecture</a:t>
                      </a:r>
                      <a:r>
                        <a:rPr lang="en-US" sz="2299">
                          <a:solidFill>
                            <a:srgbClr val="000000"/>
                          </a:solidFill>
                          <a:latin typeface="Arimo"/>
                          <a:ea typeface="Arimo"/>
                          <a:cs typeface="Arimo"/>
                          <a:sym typeface="Arimo"/>
                        </a:rPr>
                        <a:t> and implemented the training loop.</a:t>
                      </a:r>
                      <a:endParaRPr lang="en-US" sz="1100"/>
                    </a:p>
                    <a:p>
                      <a:pPr algn="l">
                        <a:lnSpc>
                          <a:spcPts val="3219"/>
                        </a:lnSpc>
                      </a:pPr>
                      <a:r>
                        <a:rPr lang="en-US" sz="2299">
                          <a:solidFill>
                            <a:srgbClr val="000000"/>
                          </a:solidFill>
                          <a:latin typeface="Arimo"/>
                          <a:ea typeface="Arimo"/>
                          <a:cs typeface="Arimo"/>
                          <a:sym typeface="Arimo"/>
                        </a:rPr>
                        <a:t>Developed and refined the </a:t>
                      </a:r>
                      <a:r>
                        <a:rPr lang="en-US" sz="2299" b="1">
                          <a:solidFill>
                            <a:srgbClr val="000000"/>
                          </a:solidFill>
                          <a:latin typeface="Arimo Bold"/>
                          <a:ea typeface="Arimo Bold"/>
                          <a:cs typeface="Arimo Bold"/>
                          <a:sym typeface="Arimo Bold"/>
                        </a:rPr>
                        <a:t>reward function</a:t>
                      </a:r>
                      <a:r>
                        <a:rPr lang="en-US" sz="2299">
                          <a:solidFill>
                            <a:srgbClr val="000000"/>
                          </a:solidFill>
                          <a:latin typeface="Arimo"/>
                          <a:ea typeface="Arimo"/>
                          <a:cs typeface="Arimo"/>
                          <a:sym typeface="Arimo"/>
                        </a:rPr>
                        <a:t> for model learning.</a:t>
                      </a:r>
                    </a:p>
                    <a:p>
                      <a:pPr algn="l">
                        <a:lnSpc>
                          <a:spcPts val="3219"/>
                        </a:lnSpc>
                      </a:pPr>
                      <a:r>
                        <a:rPr lang="en-US" sz="2299">
                          <a:solidFill>
                            <a:srgbClr val="000000"/>
                          </a:solidFill>
                          <a:latin typeface="Arimo"/>
                          <a:ea typeface="Arimo"/>
                          <a:cs typeface="Arimo"/>
                          <a:sym typeface="Arimo"/>
                        </a:rPr>
                        <a:t>Contributed to the </a:t>
                      </a:r>
                      <a:r>
                        <a:rPr lang="en-US" sz="2299" b="1">
                          <a:solidFill>
                            <a:srgbClr val="000000"/>
                          </a:solidFill>
                          <a:latin typeface="Arimo Bold"/>
                          <a:ea typeface="Arimo Bold"/>
                          <a:cs typeface="Arimo Bold"/>
                          <a:sym typeface="Arimo Bold"/>
                        </a:rPr>
                        <a:t>Methodology</a:t>
                      </a:r>
                      <a:r>
                        <a:rPr lang="en-US" sz="2299">
                          <a:solidFill>
                            <a:srgbClr val="000000"/>
                          </a:solidFill>
                          <a:latin typeface="Arimo"/>
                          <a:ea typeface="Arimo"/>
                          <a:cs typeface="Arimo"/>
                          <a:sym typeface="Arimo"/>
                        </a:rPr>
                        <a:t> and </a:t>
                      </a:r>
                      <a:r>
                        <a:rPr lang="en-US" sz="2299" b="1">
                          <a:solidFill>
                            <a:srgbClr val="000000"/>
                          </a:solidFill>
                          <a:latin typeface="Arimo Bold"/>
                          <a:ea typeface="Arimo Bold"/>
                          <a:cs typeface="Arimo Bold"/>
                          <a:sym typeface="Arimo Bold"/>
                        </a:rPr>
                        <a:t>Block Diagram</a:t>
                      </a:r>
                      <a:r>
                        <a:rPr lang="en-US" sz="2299">
                          <a:solidFill>
                            <a:srgbClr val="000000"/>
                          </a:solidFill>
                          <a:latin typeface="Arimo"/>
                          <a:ea typeface="Arimo"/>
                          <a:cs typeface="Arimo"/>
                          <a:sym typeface="Arimo"/>
                        </a:rPr>
                        <a:t> sections of the report.</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94827">
                <a:tc>
                  <a:txBody>
                    <a:bodyPr/>
                    <a:lstStyle/>
                    <a:p>
                      <a:pPr algn="ctr">
                        <a:lnSpc>
                          <a:spcPts val="4480"/>
                        </a:lnSpc>
                        <a:defRPr/>
                      </a:pPr>
                      <a:r>
                        <a:rPr lang="en-US" sz="3200">
                          <a:solidFill>
                            <a:srgbClr val="000000"/>
                          </a:solidFill>
                          <a:latin typeface="Luktao"/>
                          <a:ea typeface="Luktao"/>
                          <a:cs typeface="Luktao"/>
                          <a:sym typeface="Luktao"/>
                        </a:rPr>
                        <a:t>Manshi Prajapati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80"/>
                        </a:lnSpc>
                        <a:defRPr/>
                      </a:pPr>
                      <a:r>
                        <a:rPr lang="en-US" sz="3200">
                          <a:solidFill>
                            <a:srgbClr val="000000"/>
                          </a:solidFill>
                          <a:latin typeface="Luktao"/>
                          <a:ea typeface="Luktao"/>
                          <a:cs typeface="Luktao"/>
                          <a:sym typeface="Luktao"/>
                        </a:rPr>
                        <a:t>2302CS08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Arimo"/>
                          <a:ea typeface="Arimo"/>
                          <a:cs typeface="Arimo"/>
                          <a:sym typeface="Arimo"/>
                        </a:rPr>
                        <a:t>Implemented and fine-tuned the </a:t>
                      </a:r>
                      <a:r>
                        <a:rPr lang="en-US" sz="2299" b="1">
                          <a:solidFill>
                            <a:srgbClr val="000000"/>
                          </a:solidFill>
                          <a:latin typeface="Arimo Bold"/>
                          <a:ea typeface="Arimo Bold"/>
                          <a:cs typeface="Arimo Bold"/>
                          <a:sym typeface="Arimo Bold"/>
                        </a:rPr>
                        <a:t>PPO algorithm</a:t>
                      </a:r>
                      <a:r>
                        <a:rPr lang="en-US" sz="2299">
                          <a:solidFill>
                            <a:srgbClr val="000000"/>
                          </a:solidFill>
                          <a:latin typeface="Arimo"/>
                          <a:ea typeface="Arimo"/>
                          <a:cs typeface="Arimo"/>
                          <a:sym typeface="Arimo"/>
                        </a:rPr>
                        <a:t> with its mathematical model.</a:t>
                      </a:r>
                      <a:endParaRPr lang="en-US" sz="1100"/>
                    </a:p>
                    <a:p>
                      <a:pPr algn="l">
                        <a:lnSpc>
                          <a:spcPts val="3219"/>
                        </a:lnSpc>
                      </a:pPr>
                      <a:r>
                        <a:rPr lang="en-US" sz="2299">
                          <a:solidFill>
                            <a:srgbClr val="000000"/>
                          </a:solidFill>
                          <a:latin typeface="Arimo"/>
                          <a:ea typeface="Arimo"/>
                          <a:cs typeface="Arimo"/>
                          <a:sym typeface="Arimo"/>
                        </a:rPr>
                        <a:t>Worked on </a:t>
                      </a:r>
                      <a:r>
                        <a:rPr lang="en-US" sz="2299" b="1">
                          <a:solidFill>
                            <a:srgbClr val="000000"/>
                          </a:solidFill>
                          <a:latin typeface="Arimo Bold"/>
                          <a:ea typeface="Arimo Bold"/>
                          <a:cs typeface="Arimo Bold"/>
                          <a:sym typeface="Arimo Bold"/>
                        </a:rPr>
                        <a:t>policy optimization and performance stability</a:t>
                      </a:r>
                      <a:r>
                        <a:rPr lang="en-US" sz="2299">
                          <a:solidFill>
                            <a:srgbClr val="000000"/>
                          </a:solidFill>
                          <a:latin typeface="Arimo"/>
                          <a:ea typeface="Arimo"/>
                          <a:cs typeface="Arimo"/>
                          <a:sym typeface="Arimo"/>
                        </a:rPr>
                        <a:t> for PPO.</a:t>
                      </a:r>
                    </a:p>
                    <a:p>
                      <a:pPr algn="l">
                        <a:lnSpc>
                          <a:spcPts val="3219"/>
                        </a:lnSpc>
                      </a:pPr>
                      <a:r>
                        <a:rPr lang="en-US" sz="2299">
                          <a:solidFill>
                            <a:srgbClr val="000000"/>
                          </a:solidFill>
                          <a:latin typeface="Arimo"/>
                          <a:ea typeface="Arimo"/>
                          <a:cs typeface="Arimo"/>
                          <a:sym typeface="Arimo"/>
                        </a:rPr>
                        <a:t>Created </a:t>
                      </a:r>
                      <a:r>
                        <a:rPr lang="en-US" sz="2299" b="1">
                          <a:solidFill>
                            <a:srgbClr val="000000"/>
                          </a:solidFill>
                          <a:latin typeface="Arimo Bold"/>
                          <a:ea typeface="Arimo Bold"/>
                          <a:cs typeface="Arimo Bold"/>
                          <a:sym typeface="Arimo Bold"/>
                        </a:rPr>
                        <a:t>Algorithm</a:t>
                      </a:r>
                      <a:r>
                        <a:rPr lang="en-US" sz="2299">
                          <a:solidFill>
                            <a:srgbClr val="000000"/>
                          </a:solidFill>
                          <a:latin typeface="Arimo"/>
                          <a:ea typeface="Arimo"/>
                          <a:cs typeface="Arimo"/>
                          <a:sym typeface="Arimo"/>
                        </a:rPr>
                        <a:t> and </a:t>
                      </a:r>
                      <a:r>
                        <a:rPr lang="en-US" sz="2299" b="1">
                          <a:solidFill>
                            <a:srgbClr val="000000"/>
                          </a:solidFill>
                          <a:latin typeface="Arimo Bold"/>
                          <a:ea typeface="Arimo Bold"/>
                          <a:cs typeface="Arimo Bold"/>
                          <a:sym typeface="Arimo Bold"/>
                        </a:rPr>
                        <a:t>Flowchart</a:t>
                      </a:r>
                      <a:r>
                        <a:rPr lang="en-US" sz="2299">
                          <a:solidFill>
                            <a:srgbClr val="000000"/>
                          </a:solidFill>
                          <a:latin typeface="Arimo"/>
                          <a:ea typeface="Arimo"/>
                          <a:cs typeface="Arimo"/>
                          <a:sym typeface="Arimo"/>
                        </a:rPr>
                        <a:t> slides for the presentation.</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267272">
                <a:tc>
                  <a:txBody>
                    <a:bodyPr/>
                    <a:lstStyle/>
                    <a:p>
                      <a:pPr algn="ctr">
                        <a:lnSpc>
                          <a:spcPts val="4480"/>
                        </a:lnSpc>
                        <a:defRPr/>
                      </a:pPr>
                      <a:r>
                        <a:rPr lang="en-US" sz="3200">
                          <a:solidFill>
                            <a:srgbClr val="000000"/>
                          </a:solidFill>
                          <a:latin typeface="Luktao"/>
                          <a:ea typeface="Luktao"/>
                          <a:cs typeface="Luktao"/>
                          <a:sym typeface="Luktao"/>
                        </a:rPr>
                        <a:t>Shiwani Shrivastava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480"/>
                        </a:lnSpc>
                        <a:defRPr/>
                      </a:pPr>
                      <a:r>
                        <a:rPr lang="en-US" sz="3200">
                          <a:solidFill>
                            <a:srgbClr val="000000"/>
                          </a:solidFill>
                          <a:latin typeface="Luktao"/>
                          <a:ea typeface="Luktao"/>
                          <a:cs typeface="Luktao"/>
                          <a:sym typeface="Luktao"/>
                        </a:rPr>
                        <a:t>2301CS67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Arimo"/>
                          <a:ea typeface="Arimo"/>
                          <a:cs typeface="Arimo"/>
                          <a:sym typeface="Arimo"/>
                        </a:rPr>
                        <a:t>Conducted </a:t>
                      </a:r>
                      <a:r>
                        <a:rPr lang="en-US" sz="2299" b="1">
                          <a:solidFill>
                            <a:srgbClr val="000000"/>
                          </a:solidFill>
                          <a:latin typeface="Arimo Bold"/>
                          <a:ea typeface="Arimo Bold"/>
                          <a:cs typeface="Arimo Bold"/>
                          <a:sym typeface="Arimo Bold"/>
                        </a:rPr>
                        <a:t>testing and evaluation</a:t>
                      </a:r>
                      <a:r>
                        <a:rPr lang="en-US" sz="2299">
                          <a:solidFill>
                            <a:srgbClr val="000000"/>
                          </a:solidFill>
                          <a:latin typeface="Arimo"/>
                          <a:ea typeface="Arimo"/>
                          <a:cs typeface="Arimo"/>
                          <a:sym typeface="Arimo"/>
                        </a:rPr>
                        <a:t> of PPO and compared it with DQN results.</a:t>
                      </a:r>
                      <a:endParaRPr lang="en-US" sz="1100"/>
                    </a:p>
                    <a:p>
                      <a:pPr algn="l">
                        <a:lnSpc>
                          <a:spcPts val="3219"/>
                        </a:lnSpc>
                      </a:pPr>
                      <a:r>
                        <a:rPr lang="en-US" sz="2299">
                          <a:solidFill>
                            <a:srgbClr val="000000"/>
                          </a:solidFill>
                          <a:latin typeface="Arimo"/>
                          <a:ea typeface="Arimo"/>
                          <a:cs typeface="Arimo"/>
                          <a:sym typeface="Arimo"/>
                        </a:rPr>
                        <a:t>Assisted in </a:t>
                      </a:r>
                      <a:r>
                        <a:rPr lang="en-US" sz="2299" b="1">
                          <a:solidFill>
                            <a:srgbClr val="000000"/>
                          </a:solidFill>
                          <a:latin typeface="Arimo Bold"/>
                          <a:ea typeface="Arimo Bold"/>
                          <a:cs typeface="Arimo Bold"/>
                          <a:sym typeface="Arimo Bold"/>
                        </a:rPr>
                        <a:t>performance analysis and visualization</a:t>
                      </a:r>
                      <a:r>
                        <a:rPr lang="en-US" sz="2299">
                          <a:solidFill>
                            <a:srgbClr val="000000"/>
                          </a:solidFill>
                          <a:latin typeface="Arimo"/>
                          <a:ea typeface="Arimo"/>
                          <a:cs typeface="Arimo"/>
                          <a:sym typeface="Arimo"/>
                        </a:rPr>
                        <a:t> of outcomes.</a:t>
                      </a:r>
                    </a:p>
                    <a:p>
                      <a:pPr algn="l">
                        <a:lnSpc>
                          <a:spcPts val="3219"/>
                        </a:lnSpc>
                      </a:pPr>
                      <a:r>
                        <a:rPr lang="en-US" sz="2299">
                          <a:solidFill>
                            <a:srgbClr val="000000"/>
                          </a:solidFill>
                          <a:latin typeface="Arimo"/>
                          <a:ea typeface="Arimo"/>
                          <a:cs typeface="Arimo"/>
                          <a:sym typeface="Arimo"/>
                        </a:rPr>
                        <a:t>Prepared </a:t>
                      </a:r>
                      <a:r>
                        <a:rPr lang="en-US" sz="2299" b="1">
                          <a:solidFill>
                            <a:srgbClr val="000000"/>
                          </a:solidFill>
                          <a:latin typeface="Arimo Bold"/>
                          <a:ea typeface="Arimo Bold"/>
                          <a:cs typeface="Arimo Bold"/>
                          <a:sym typeface="Arimo Bold"/>
                        </a:rPr>
                        <a:t>Results</a:t>
                      </a:r>
                      <a:r>
                        <a:rPr lang="en-US" sz="2299">
                          <a:solidFill>
                            <a:srgbClr val="000000"/>
                          </a:solidFill>
                          <a:latin typeface="Arimo"/>
                          <a:ea typeface="Arimo"/>
                          <a:cs typeface="Arimo"/>
                          <a:sym typeface="Arimo"/>
                        </a:rPr>
                        <a:t> and </a:t>
                      </a:r>
                      <a:r>
                        <a:rPr lang="en-US" sz="2299" b="1">
                          <a:solidFill>
                            <a:srgbClr val="000000"/>
                          </a:solidFill>
                          <a:latin typeface="Arimo Bold"/>
                          <a:ea typeface="Arimo Bold"/>
                          <a:cs typeface="Arimo Bold"/>
                          <a:sym typeface="Arimo Bold"/>
                        </a:rPr>
                        <a:t>Conclusion</a:t>
                      </a:r>
                      <a:r>
                        <a:rPr lang="en-US" sz="2299">
                          <a:solidFill>
                            <a:srgbClr val="000000"/>
                          </a:solidFill>
                          <a:latin typeface="Arimo"/>
                          <a:ea typeface="Arimo"/>
                          <a:cs typeface="Arimo"/>
                          <a:sym typeface="Arimo"/>
                        </a:rPr>
                        <a:t> slides for the presentation.</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Box 5"/>
          <p:cNvSpPr txBox="1"/>
          <p:nvPr/>
        </p:nvSpPr>
        <p:spPr>
          <a:xfrm>
            <a:off x="3919123" y="204291"/>
            <a:ext cx="10449755" cy="896059"/>
          </a:xfrm>
          <a:prstGeom prst="rect">
            <a:avLst/>
          </a:prstGeom>
        </p:spPr>
        <p:txBody>
          <a:bodyPr lIns="0" tIns="0" rIns="0" bIns="0" rtlCol="0" anchor="t">
            <a:spAutoFit/>
          </a:bodyPr>
          <a:lstStyle/>
          <a:p>
            <a:pPr algn="ctr">
              <a:lnSpc>
                <a:spcPts val="7310"/>
              </a:lnSpc>
            </a:pPr>
            <a:r>
              <a:rPr lang="en-US" sz="5222" b="1">
                <a:solidFill>
                  <a:srgbClr val="0345E4"/>
                </a:solidFill>
                <a:latin typeface="Luktao Bold"/>
                <a:ea typeface="Luktao Bold"/>
                <a:cs typeface="Luktao Bold"/>
                <a:sym typeface="Luktao Bold"/>
              </a:rPr>
              <a:t>ROLES AND RESPONSIBILITIES</a:t>
            </a:r>
          </a:p>
        </p:txBody>
      </p:sp>
      <p:grpSp>
        <p:nvGrpSpPr>
          <p:cNvPr id="6" name="Group 6"/>
          <p:cNvGrpSpPr/>
          <p:nvPr/>
        </p:nvGrpSpPr>
        <p:grpSpPr>
          <a:xfrm>
            <a:off x="15011231" y="254369"/>
            <a:ext cx="1652841" cy="1652841"/>
            <a:chOff x="0" y="0"/>
            <a:chExt cx="812800" cy="812800"/>
          </a:xfrm>
        </p:grpSpPr>
        <p:sp>
          <p:nvSpPr>
            <p:cNvPr id="7" name="Freeform 7"/>
            <p:cNvSpPr/>
            <p:nvPr/>
          </p:nvSpPr>
          <p:spPr>
            <a:xfrm>
              <a:off x="0" y="0"/>
              <a:ext cx="812800" cy="812800"/>
            </a:xfrm>
            <a:custGeom>
              <a:avLst/>
              <a:gdLst/>
              <a:ahLst/>
              <a:cxnLst/>
              <a:rect l="l" t="t" r="r" b="b"/>
              <a:pathLst>
                <a:path w="812800" h="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4791765" y="309066"/>
            <a:ext cx="771724" cy="77172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0" y="7109187"/>
            <a:ext cx="1028700" cy="3177813"/>
            <a:chOff x="0" y="0"/>
            <a:chExt cx="812800" cy="2510865"/>
          </a:xfrm>
        </p:grpSpPr>
        <p:sp>
          <p:nvSpPr>
            <p:cNvPr id="13" name="Freeform 13"/>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14" name="TextBox 14"/>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7259300" y="0"/>
            <a:ext cx="1028700" cy="10287000"/>
            <a:chOff x="0" y="0"/>
            <a:chExt cx="270933" cy="2709333"/>
          </a:xfrm>
        </p:grpSpPr>
        <p:sp>
          <p:nvSpPr>
            <p:cNvPr id="16" name="Freeform 16"/>
            <p:cNvSpPr/>
            <p:nvPr/>
          </p:nvSpPr>
          <p:spPr>
            <a:xfrm>
              <a:off x="0" y="0"/>
              <a:ext cx="270933" cy="2709333"/>
            </a:xfrm>
            <a:custGeom>
              <a:avLst/>
              <a:gdLst/>
              <a:ahLst/>
              <a:cxnLst/>
              <a:rect l="l" t="t" r="r" b="b"/>
              <a:pathLst>
                <a:path w="270933" h="2709333">
                  <a:moveTo>
                    <a:pt x="135467" y="0"/>
                  </a:moveTo>
                  <a:lnTo>
                    <a:pt x="135467" y="0"/>
                  </a:lnTo>
                  <a:cubicBezTo>
                    <a:pt x="171395" y="0"/>
                    <a:pt x="205851" y="14272"/>
                    <a:pt x="231256" y="39677"/>
                  </a:cubicBezTo>
                  <a:cubicBezTo>
                    <a:pt x="256661" y="65082"/>
                    <a:pt x="270933" y="99539"/>
                    <a:pt x="270933" y="135467"/>
                  </a:cubicBezTo>
                  <a:lnTo>
                    <a:pt x="270933" y="2573867"/>
                  </a:lnTo>
                  <a:cubicBezTo>
                    <a:pt x="270933" y="2609795"/>
                    <a:pt x="256661" y="2644251"/>
                    <a:pt x="231256" y="2669656"/>
                  </a:cubicBezTo>
                  <a:cubicBezTo>
                    <a:pt x="205851" y="2695061"/>
                    <a:pt x="171395" y="2709333"/>
                    <a:pt x="135467" y="2709333"/>
                  </a:cubicBezTo>
                  <a:lnTo>
                    <a:pt x="135467" y="2709333"/>
                  </a:lnTo>
                  <a:cubicBezTo>
                    <a:pt x="99539" y="2709333"/>
                    <a:pt x="65082" y="2695061"/>
                    <a:pt x="39677" y="2669656"/>
                  </a:cubicBezTo>
                  <a:cubicBezTo>
                    <a:pt x="14272" y="2644251"/>
                    <a:pt x="0" y="2609795"/>
                    <a:pt x="0" y="2573867"/>
                  </a:cubicBezTo>
                  <a:lnTo>
                    <a:pt x="0" y="135467"/>
                  </a:lnTo>
                  <a:cubicBezTo>
                    <a:pt x="0" y="99539"/>
                    <a:pt x="14272" y="65082"/>
                    <a:pt x="39677" y="39677"/>
                  </a:cubicBezTo>
                  <a:cubicBezTo>
                    <a:pt x="65082" y="14272"/>
                    <a:pt x="99539" y="0"/>
                    <a:pt x="135467" y="0"/>
                  </a:cubicBezTo>
                  <a:close/>
                </a:path>
              </a:pathLst>
            </a:custGeom>
            <a:solidFill>
              <a:srgbClr val="0345E4"/>
            </a:solidFill>
          </p:spPr>
        </p:sp>
        <p:sp>
          <p:nvSpPr>
            <p:cNvPr id="17" name="TextBox 17"/>
            <p:cNvSpPr txBox="1"/>
            <p:nvPr/>
          </p:nvSpPr>
          <p:spPr>
            <a:xfrm>
              <a:off x="0" y="-38100"/>
              <a:ext cx="270933" cy="2747433"/>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0" y="0"/>
            <a:ext cx="1028700" cy="1028700"/>
            <a:chOff x="0" y="0"/>
            <a:chExt cx="812800" cy="812800"/>
          </a:xfrm>
        </p:grpSpPr>
        <p:sp>
          <p:nvSpPr>
            <p:cNvPr id="19" name="Freeform 1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20" name="TextBox 2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018095" cy="10287000"/>
            <a:chOff x="0" y="0"/>
            <a:chExt cx="2375136" cy="2709333"/>
          </a:xfrm>
        </p:grpSpPr>
        <p:sp>
          <p:nvSpPr>
            <p:cNvPr id="3" name="Freeform 3"/>
            <p:cNvSpPr/>
            <p:nvPr/>
          </p:nvSpPr>
          <p:spPr>
            <a:xfrm>
              <a:off x="0" y="0"/>
              <a:ext cx="2375136" cy="2709333"/>
            </a:xfrm>
            <a:custGeom>
              <a:avLst/>
              <a:gdLst/>
              <a:ahLst/>
              <a:cxnLst/>
              <a:rect l="l" t="t" r="r" b="b"/>
              <a:pathLst>
                <a:path w="2375136" h="2709333">
                  <a:moveTo>
                    <a:pt x="0" y="0"/>
                  </a:moveTo>
                  <a:lnTo>
                    <a:pt x="2375136" y="0"/>
                  </a:lnTo>
                  <a:lnTo>
                    <a:pt x="2375136" y="2709333"/>
                  </a:lnTo>
                  <a:lnTo>
                    <a:pt x="0" y="2709333"/>
                  </a:lnTo>
                  <a:close/>
                </a:path>
              </a:pathLst>
            </a:custGeom>
            <a:solidFill>
              <a:srgbClr val="0345E4"/>
            </a:solidFill>
          </p:spPr>
        </p:sp>
        <p:sp>
          <p:nvSpPr>
            <p:cNvPr id="4" name="TextBox 4"/>
            <p:cNvSpPr txBox="1"/>
            <p:nvPr/>
          </p:nvSpPr>
          <p:spPr>
            <a:xfrm>
              <a:off x="0" y="-38100"/>
              <a:ext cx="2375136" cy="2747433"/>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916626" y="1908721"/>
            <a:ext cx="1310100" cy="0"/>
          </a:xfrm>
          <a:prstGeom prst="line">
            <a:avLst/>
          </a:prstGeom>
          <a:ln w="95250" cap="flat">
            <a:solidFill>
              <a:srgbClr val="FFFFFF"/>
            </a:solidFill>
            <a:prstDash val="solid"/>
            <a:headEnd type="none" w="sm" len="sm"/>
            <a:tailEnd type="none" w="sm" len="sm"/>
          </a:ln>
        </p:spPr>
      </p:sp>
      <p:sp>
        <p:nvSpPr>
          <p:cNvPr id="6" name="TextBox 6"/>
          <p:cNvSpPr txBox="1"/>
          <p:nvPr/>
        </p:nvSpPr>
        <p:spPr>
          <a:xfrm>
            <a:off x="570048" y="687644"/>
            <a:ext cx="7708382" cy="85407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PROBLEM STATEMENT</a:t>
            </a:r>
          </a:p>
        </p:txBody>
      </p:sp>
      <p:sp>
        <p:nvSpPr>
          <p:cNvPr id="7" name="TextBox 7"/>
          <p:cNvSpPr txBox="1"/>
          <p:nvPr/>
        </p:nvSpPr>
        <p:spPr>
          <a:xfrm>
            <a:off x="570048" y="2688604"/>
            <a:ext cx="7708382" cy="6897858"/>
          </a:xfrm>
          <a:prstGeom prst="rect">
            <a:avLst/>
          </a:prstGeom>
        </p:spPr>
        <p:txBody>
          <a:bodyPr lIns="0" tIns="0" rIns="0" bIns="0" rtlCol="0" anchor="t">
            <a:spAutoFit/>
          </a:bodyPr>
          <a:lstStyle/>
          <a:p>
            <a:pPr marL="0" lvl="0" indent="0" algn="just">
              <a:lnSpc>
                <a:spcPts val="4256"/>
              </a:lnSpc>
            </a:pPr>
            <a:r>
              <a:rPr lang="en-US" sz="2746">
                <a:solidFill>
                  <a:srgbClr val="FFFFFF"/>
                </a:solidFill>
                <a:latin typeface="Open Sans"/>
                <a:ea typeface="Open Sans"/>
                <a:cs typeface="Open Sans"/>
                <a:sym typeface="Open Sans"/>
              </a:rPr>
              <a:t>In today’s dynamic financial markets, trading decisions must adapt quickly to fluctuating data, which creates difficulties for traditional rule-based or statistical models. This project focuses on developing Reinforcement Learning (RL)-based trading agents capable of learning optimal strategies through market interaction. The objective is to design, train, and compare the performance of two RL algorithms — Deep Q-Network (DQN) and Proximal Policy Optimization (PPO) — to evaluate their effectiveness in making adaptive and profitable trading decisions.</a:t>
            </a:r>
          </a:p>
        </p:txBody>
      </p:sp>
      <p:grpSp>
        <p:nvGrpSpPr>
          <p:cNvPr id="8" name="Group 8"/>
          <p:cNvGrpSpPr/>
          <p:nvPr/>
        </p:nvGrpSpPr>
        <p:grpSpPr>
          <a:xfrm rot="5400000">
            <a:off x="8278430" y="340111"/>
            <a:ext cx="1479329" cy="1479329"/>
            <a:chOff x="0" y="0"/>
            <a:chExt cx="812800" cy="812800"/>
          </a:xfrm>
        </p:grpSpPr>
        <p:sp>
          <p:nvSpPr>
            <p:cNvPr id="9" name="Freeform 9"/>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5400000">
            <a:off x="9293368" y="1219358"/>
            <a:ext cx="771724" cy="77172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9679230" y="2852686"/>
            <a:ext cx="7960352" cy="6569696"/>
          </a:xfrm>
          <a:prstGeom prst="rect">
            <a:avLst/>
          </a:prstGeom>
        </p:spPr>
        <p:txBody>
          <a:bodyPr lIns="0" tIns="0" rIns="0" bIns="0" rtlCol="0" anchor="t">
            <a:spAutoFit/>
          </a:bodyPr>
          <a:lstStyle/>
          <a:p>
            <a:pPr marL="0" lvl="0" indent="0" algn="just">
              <a:lnSpc>
                <a:spcPts val="4395"/>
              </a:lnSpc>
            </a:pPr>
            <a:r>
              <a:rPr lang="en-US" sz="2835">
                <a:solidFill>
                  <a:srgbClr val="000000"/>
                </a:solidFill>
                <a:latin typeface="Open Sans"/>
                <a:ea typeface="Open Sans"/>
                <a:cs typeface="Open Sans"/>
                <a:sym typeface="Open Sans"/>
              </a:rPr>
              <a:t>Financial markets are highly dynamic and difficult to model using fixed strategies. Reinforcement Learning (RL) offers an automated way to learn trading decisions through experience and feedback. This project is motivated by the need to understand how different RL algorithms manage uncertainty and optimize rewards. By comparing DQN and PPO, we aim to identify which algorithm delivers better performance, stability, and adaptability in real-world trading. </a:t>
            </a:r>
            <a:r>
              <a:rPr lang="en-US" sz="2835">
                <a:solidFill>
                  <a:srgbClr val="FFFFFF"/>
                </a:solidFill>
                <a:latin typeface="Open Sans"/>
                <a:ea typeface="Open Sans"/>
                <a:cs typeface="Open Sans"/>
                <a:sym typeface="Open Sans"/>
              </a:rPr>
              <a:t>environments.</a:t>
            </a:r>
          </a:p>
        </p:txBody>
      </p:sp>
      <p:sp>
        <p:nvSpPr>
          <p:cNvPr id="15" name="TextBox 15"/>
          <p:cNvSpPr txBox="1"/>
          <p:nvPr/>
        </p:nvSpPr>
        <p:spPr>
          <a:xfrm>
            <a:off x="9550918" y="687644"/>
            <a:ext cx="7708382" cy="854076"/>
          </a:xfrm>
          <a:prstGeom prst="rect">
            <a:avLst/>
          </a:prstGeom>
        </p:spPr>
        <p:txBody>
          <a:bodyPr lIns="0" tIns="0" rIns="0" bIns="0" rtlCol="0" anchor="t">
            <a:spAutoFit/>
          </a:bodyPr>
          <a:lstStyle/>
          <a:p>
            <a:pPr algn="ctr">
              <a:lnSpc>
                <a:spcPts val="6999"/>
              </a:lnSpc>
            </a:pPr>
            <a:r>
              <a:rPr lang="en-US" sz="4999" b="1" spc="99">
                <a:solidFill>
                  <a:srgbClr val="000000"/>
                </a:solidFill>
                <a:latin typeface="Garet Bold"/>
                <a:ea typeface="Garet Bold"/>
                <a:cs typeface="Garet Bold"/>
                <a:sym typeface="Garet Bold"/>
              </a:rPr>
              <a:t>MOTIVATION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57766" y="7109187"/>
            <a:ext cx="11830234" cy="3177813"/>
            <a:chOff x="0" y="0"/>
            <a:chExt cx="9347345" cy="2510865"/>
          </a:xfrm>
        </p:grpSpPr>
        <p:sp>
          <p:nvSpPr>
            <p:cNvPr id="3" name="Freeform 3"/>
            <p:cNvSpPr/>
            <p:nvPr/>
          </p:nvSpPr>
          <p:spPr>
            <a:xfrm>
              <a:off x="0" y="0"/>
              <a:ext cx="9347345" cy="2510865"/>
            </a:xfrm>
            <a:custGeom>
              <a:avLst/>
              <a:gdLst/>
              <a:ahLst/>
              <a:cxnLst/>
              <a:rect l="l" t="t" r="r" b="b"/>
              <a:pathLst>
                <a:path w="9347345" h="2510865">
                  <a:moveTo>
                    <a:pt x="0" y="0"/>
                  </a:moveTo>
                  <a:lnTo>
                    <a:pt x="9347345" y="0"/>
                  </a:lnTo>
                  <a:lnTo>
                    <a:pt x="9347345" y="2510865"/>
                  </a:lnTo>
                  <a:lnTo>
                    <a:pt x="0" y="2510865"/>
                  </a:lnTo>
                  <a:close/>
                </a:path>
              </a:pathLst>
            </a:custGeom>
            <a:solidFill>
              <a:srgbClr val="F6F6F6"/>
            </a:solidFill>
          </p:spPr>
        </p:sp>
        <p:sp>
          <p:nvSpPr>
            <p:cNvPr id="4" name="TextBox 4"/>
            <p:cNvSpPr txBox="1"/>
            <p:nvPr/>
          </p:nvSpPr>
          <p:spPr>
            <a:xfrm>
              <a:off x="0" y="-38100"/>
              <a:ext cx="9347345" cy="254896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259300" y="0"/>
            <a:ext cx="1028700" cy="10287000"/>
            <a:chOff x="0" y="0"/>
            <a:chExt cx="270933" cy="2709333"/>
          </a:xfrm>
        </p:grpSpPr>
        <p:sp>
          <p:nvSpPr>
            <p:cNvPr id="6" name="Freeform 6"/>
            <p:cNvSpPr/>
            <p:nvPr/>
          </p:nvSpPr>
          <p:spPr>
            <a:xfrm>
              <a:off x="0" y="0"/>
              <a:ext cx="270933" cy="2709333"/>
            </a:xfrm>
            <a:custGeom>
              <a:avLst/>
              <a:gdLst/>
              <a:ahLst/>
              <a:cxnLst/>
              <a:rect l="l" t="t" r="r" b="b"/>
              <a:pathLst>
                <a:path w="270933" h="2709333">
                  <a:moveTo>
                    <a:pt x="135467" y="0"/>
                  </a:moveTo>
                  <a:lnTo>
                    <a:pt x="135467" y="0"/>
                  </a:lnTo>
                  <a:cubicBezTo>
                    <a:pt x="171395" y="0"/>
                    <a:pt x="205851" y="14272"/>
                    <a:pt x="231256" y="39677"/>
                  </a:cubicBezTo>
                  <a:cubicBezTo>
                    <a:pt x="256661" y="65082"/>
                    <a:pt x="270933" y="99539"/>
                    <a:pt x="270933" y="135467"/>
                  </a:cubicBezTo>
                  <a:lnTo>
                    <a:pt x="270933" y="2573867"/>
                  </a:lnTo>
                  <a:cubicBezTo>
                    <a:pt x="270933" y="2609795"/>
                    <a:pt x="256661" y="2644251"/>
                    <a:pt x="231256" y="2669656"/>
                  </a:cubicBezTo>
                  <a:cubicBezTo>
                    <a:pt x="205851" y="2695061"/>
                    <a:pt x="171395" y="2709333"/>
                    <a:pt x="135467" y="2709333"/>
                  </a:cubicBezTo>
                  <a:lnTo>
                    <a:pt x="135467" y="2709333"/>
                  </a:lnTo>
                  <a:cubicBezTo>
                    <a:pt x="99539" y="2709333"/>
                    <a:pt x="65082" y="2695061"/>
                    <a:pt x="39677" y="2669656"/>
                  </a:cubicBezTo>
                  <a:cubicBezTo>
                    <a:pt x="14272" y="2644251"/>
                    <a:pt x="0" y="2609795"/>
                    <a:pt x="0" y="2573867"/>
                  </a:cubicBezTo>
                  <a:lnTo>
                    <a:pt x="0" y="135467"/>
                  </a:lnTo>
                  <a:cubicBezTo>
                    <a:pt x="0" y="99539"/>
                    <a:pt x="14272" y="65082"/>
                    <a:pt x="39677" y="39677"/>
                  </a:cubicBezTo>
                  <a:cubicBezTo>
                    <a:pt x="65082" y="14272"/>
                    <a:pt x="99539" y="0"/>
                    <a:pt x="135467" y="0"/>
                  </a:cubicBezTo>
                  <a:close/>
                </a:path>
              </a:pathLst>
            </a:custGeom>
            <a:solidFill>
              <a:srgbClr val="0345E4"/>
            </a:solidFill>
          </p:spPr>
        </p:sp>
        <p:sp>
          <p:nvSpPr>
            <p:cNvPr id="7" name="TextBox 7"/>
            <p:cNvSpPr txBox="1"/>
            <p:nvPr/>
          </p:nvSpPr>
          <p:spPr>
            <a:xfrm>
              <a:off x="0" y="-38100"/>
              <a:ext cx="270933" cy="27474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0" y="7109187"/>
            <a:ext cx="1028700" cy="3177813"/>
            <a:chOff x="0" y="0"/>
            <a:chExt cx="812800" cy="2510865"/>
          </a:xfrm>
        </p:grpSpPr>
        <p:sp>
          <p:nvSpPr>
            <p:cNvPr id="9" name="Freeform 9"/>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10" name="TextBox 10"/>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0"/>
            <a:ext cx="1028700" cy="1028700"/>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5159023" y="436224"/>
            <a:ext cx="7494647" cy="1151850"/>
          </a:xfrm>
          <a:prstGeom prst="rect">
            <a:avLst/>
          </a:prstGeom>
        </p:spPr>
        <p:txBody>
          <a:bodyPr lIns="0" tIns="0" rIns="0" bIns="0" rtlCol="0" anchor="t">
            <a:spAutoFit/>
          </a:bodyPr>
          <a:lstStyle/>
          <a:p>
            <a:pPr algn="l">
              <a:lnSpc>
                <a:spcPts val="9487"/>
              </a:lnSpc>
            </a:pPr>
            <a:r>
              <a:rPr lang="en-US" sz="6776" b="1">
                <a:solidFill>
                  <a:srgbClr val="0345E4"/>
                </a:solidFill>
                <a:latin typeface="Garet Bold"/>
                <a:ea typeface="Garet Bold"/>
                <a:cs typeface="Garet Bold"/>
                <a:sym typeface="Garet Bold"/>
              </a:rPr>
              <a:t>INTRODUCTION</a:t>
            </a:r>
          </a:p>
        </p:txBody>
      </p:sp>
      <p:grpSp>
        <p:nvGrpSpPr>
          <p:cNvPr id="15" name="Group 15"/>
          <p:cNvGrpSpPr/>
          <p:nvPr/>
        </p:nvGrpSpPr>
        <p:grpSpPr>
          <a:xfrm>
            <a:off x="15011231" y="1028700"/>
            <a:ext cx="1652841" cy="1652841"/>
            <a:chOff x="0" y="0"/>
            <a:chExt cx="812800" cy="812800"/>
          </a:xfrm>
        </p:grpSpPr>
        <p:sp>
          <p:nvSpPr>
            <p:cNvPr id="16" name="Freeform 16"/>
            <p:cNvSpPr/>
            <p:nvPr/>
          </p:nvSpPr>
          <p:spPr>
            <a:xfrm>
              <a:off x="0" y="0"/>
              <a:ext cx="812800" cy="812800"/>
            </a:xfrm>
            <a:custGeom>
              <a:avLst/>
              <a:gdLst/>
              <a:ahLst/>
              <a:cxnLst/>
              <a:rect l="l" t="t" r="r" b="b"/>
              <a:pathLst>
                <a:path w="812800" h="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id="17" name="TextBox 17"/>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4814124" y="816351"/>
            <a:ext cx="771724" cy="77172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4543385" y="6542385"/>
            <a:ext cx="3744615" cy="374461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985534" y="3708399"/>
            <a:ext cx="13852118" cy="4311651"/>
          </a:xfrm>
          <a:prstGeom prst="rect">
            <a:avLst/>
          </a:prstGeom>
        </p:spPr>
        <p:txBody>
          <a:bodyPr lIns="0" tIns="0" rIns="0" bIns="0" rtlCol="0" anchor="t">
            <a:spAutoFit/>
          </a:bodyPr>
          <a:lstStyle/>
          <a:p>
            <a:pPr algn="l">
              <a:lnSpc>
                <a:spcPts val="4899"/>
              </a:lnSpc>
              <a:spcBef>
                <a:spcPct val="0"/>
              </a:spcBef>
            </a:pPr>
            <a:r>
              <a:rPr lang="en-US" sz="3499">
                <a:solidFill>
                  <a:srgbClr val="000000"/>
                </a:solidFill>
                <a:latin typeface="Inter"/>
                <a:ea typeface="Inter"/>
                <a:cs typeface="Inter"/>
                <a:sym typeface="Inter"/>
              </a:rPr>
              <a:t>The goal of this project is to build and compare two RL-based trading agents — Deep Q-Network (DQN) and Proximal Policy Optimization (PPO). We will train both agents on market data and evaluate how well they adapt to changing conditions, maximize profits, and maintain stable performance. By comparing these two algorithms, we aim to find out which one is more effective and reliable for real-world trading environments.</a:t>
            </a:r>
          </a:p>
        </p:txBody>
      </p:sp>
      <p:sp>
        <p:nvSpPr>
          <p:cNvPr id="25" name="TextBox 25"/>
          <p:cNvSpPr txBox="1"/>
          <p:nvPr/>
        </p:nvSpPr>
        <p:spPr>
          <a:xfrm>
            <a:off x="6539111" y="2151348"/>
            <a:ext cx="4259163" cy="946152"/>
          </a:xfrm>
          <a:prstGeom prst="rect">
            <a:avLst/>
          </a:prstGeom>
        </p:spPr>
        <p:txBody>
          <a:bodyPr lIns="0" tIns="0" rIns="0" bIns="0" rtlCol="0" anchor="t">
            <a:spAutoFit/>
          </a:bodyPr>
          <a:lstStyle/>
          <a:p>
            <a:pPr algn="ctr">
              <a:lnSpc>
                <a:spcPts val="7699"/>
              </a:lnSpc>
              <a:spcBef>
                <a:spcPct val="0"/>
              </a:spcBef>
            </a:pPr>
            <a:r>
              <a:rPr lang="en-US" sz="5499">
                <a:solidFill>
                  <a:srgbClr val="0345E4"/>
                </a:solidFill>
                <a:latin typeface="Inter"/>
                <a:ea typeface="Inter"/>
                <a:cs typeface="Inter"/>
                <a:sym typeface="Inter"/>
              </a:rPr>
              <a:t>OBJECTIVES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946802" cy="10287000"/>
            <a:chOff x="0" y="0"/>
            <a:chExt cx="1302861" cy="2709333"/>
          </a:xfrm>
        </p:grpSpPr>
        <p:sp>
          <p:nvSpPr>
            <p:cNvPr id="3" name="Freeform 3"/>
            <p:cNvSpPr/>
            <p:nvPr/>
          </p:nvSpPr>
          <p:spPr>
            <a:xfrm>
              <a:off x="0" y="0"/>
              <a:ext cx="1302861" cy="2709333"/>
            </a:xfrm>
            <a:custGeom>
              <a:avLst/>
              <a:gdLst/>
              <a:ahLst/>
              <a:cxnLst/>
              <a:rect l="l" t="t" r="r" b="b"/>
              <a:pathLst>
                <a:path w="1302861" h="2709333">
                  <a:moveTo>
                    <a:pt x="0" y="0"/>
                  </a:moveTo>
                  <a:lnTo>
                    <a:pt x="1302861" y="0"/>
                  </a:lnTo>
                  <a:lnTo>
                    <a:pt x="1302861" y="2709333"/>
                  </a:lnTo>
                  <a:lnTo>
                    <a:pt x="0" y="2709333"/>
                  </a:lnTo>
                  <a:close/>
                </a:path>
              </a:pathLst>
            </a:custGeom>
            <a:solidFill>
              <a:srgbClr val="0345E4"/>
            </a:solidFill>
          </p:spPr>
        </p:sp>
        <p:sp>
          <p:nvSpPr>
            <p:cNvPr id="4" name="TextBox 4"/>
            <p:cNvSpPr txBox="1"/>
            <p:nvPr/>
          </p:nvSpPr>
          <p:spPr>
            <a:xfrm>
              <a:off x="0" y="-38100"/>
              <a:ext cx="1302861"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77858" y="749012"/>
            <a:ext cx="4568944" cy="1739901"/>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LITERATURE REVIEW</a:t>
            </a:r>
          </a:p>
        </p:txBody>
      </p:sp>
      <p:grpSp>
        <p:nvGrpSpPr>
          <p:cNvPr id="6" name="Group 6"/>
          <p:cNvGrpSpPr/>
          <p:nvPr/>
        </p:nvGrpSpPr>
        <p:grpSpPr>
          <a:xfrm>
            <a:off x="5622681" y="844262"/>
            <a:ext cx="732337" cy="73233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01</a:t>
              </a:r>
            </a:p>
          </p:txBody>
        </p:sp>
      </p:grpSp>
      <p:sp>
        <p:nvSpPr>
          <p:cNvPr id="9" name="TextBox 9"/>
          <p:cNvSpPr txBox="1"/>
          <p:nvPr/>
        </p:nvSpPr>
        <p:spPr>
          <a:xfrm>
            <a:off x="7098542" y="8068108"/>
            <a:ext cx="10600882" cy="1764833"/>
          </a:xfrm>
          <a:prstGeom prst="rect">
            <a:avLst/>
          </a:prstGeom>
        </p:spPr>
        <p:txBody>
          <a:bodyPr lIns="0" tIns="0" rIns="0" bIns="0" rtlCol="0" anchor="t">
            <a:spAutoFit/>
          </a:bodyPr>
          <a:lstStyle/>
          <a:p>
            <a:pPr marL="0" lvl="0" indent="0" algn="just">
              <a:lnSpc>
                <a:spcPts val="3559"/>
              </a:lnSpc>
            </a:pPr>
            <a:r>
              <a:rPr lang="en-US" sz="2296">
                <a:solidFill>
                  <a:srgbClr val="000000"/>
                </a:solidFill>
                <a:latin typeface="Open Sans"/>
                <a:ea typeface="Open Sans"/>
                <a:cs typeface="Open Sans"/>
                <a:sym typeface="Open Sans"/>
              </a:rPr>
              <a:t>From the paper, we applied their epsilon-greedy exploration strategy, where epsilon decays from 1.0 to 0.01—matching our exponential decay formula. We also follow their use of γ = 0.99 as the discount factor.</a:t>
            </a:r>
          </a:p>
          <a:p>
            <a:pPr marL="0" lvl="0" indent="0" algn="just">
              <a:lnSpc>
                <a:spcPts val="3559"/>
              </a:lnSpc>
            </a:pPr>
            <a:endParaRPr lang="en-US" sz="2296">
              <a:solidFill>
                <a:srgbClr val="000000"/>
              </a:solidFill>
              <a:latin typeface="Open Sans"/>
              <a:ea typeface="Open Sans"/>
              <a:cs typeface="Open Sans"/>
              <a:sym typeface="Open Sans"/>
            </a:endParaRPr>
          </a:p>
        </p:txBody>
      </p:sp>
      <p:sp>
        <p:nvSpPr>
          <p:cNvPr id="10" name="TextBox 10"/>
          <p:cNvSpPr txBox="1"/>
          <p:nvPr/>
        </p:nvSpPr>
        <p:spPr>
          <a:xfrm>
            <a:off x="7098542" y="7127783"/>
            <a:ext cx="10600882" cy="173672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Epsilon-Greedy Exploration in DQN Trading(2025)</a:t>
            </a:r>
          </a:p>
          <a:p>
            <a:pPr algn="l">
              <a:lnSpc>
                <a:spcPts val="3499"/>
              </a:lnSpc>
            </a:pPr>
            <a:r>
              <a:rPr lang="en-US" sz="2499" u="sng">
                <a:solidFill>
                  <a:srgbClr val="1F76B4"/>
                </a:solidFill>
                <a:latin typeface="Garet"/>
                <a:ea typeface="Garet"/>
                <a:cs typeface="Garet"/>
                <a:sym typeface="Garet"/>
                <a:hlinkClick r:id="rId2" tooltip="https://www.mdpi.com/2673-2688/6/8/183"/>
              </a:rPr>
              <a:t>https://www.mdpi.com/2673-2688/6/8/183</a:t>
            </a:r>
          </a:p>
          <a:p>
            <a:pPr algn="l">
              <a:lnSpc>
                <a:spcPts val="3499"/>
              </a:lnSpc>
            </a:pPr>
            <a:endParaRPr lang="en-US" sz="2499" u="sng">
              <a:solidFill>
                <a:srgbClr val="1F76B4"/>
              </a:solidFill>
              <a:latin typeface="Garet"/>
              <a:ea typeface="Garet"/>
              <a:cs typeface="Garet"/>
              <a:sym typeface="Garet"/>
              <a:hlinkClick r:id="rId2" tooltip="https://www.mdpi.com/2673-2688/6/8/183"/>
            </a:endParaRPr>
          </a:p>
          <a:p>
            <a:pPr algn="l">
              <a:lnSpc>
                <a:spcPts val="3499"/>
              </a:lnSpc>
            </a:pPr>
            <a:endParaRPr lang="en-US" sz="2499" u="sng">
              <a:solidFill>
                <a:srgbClr val="1F76B4"/>
              </a:solidFill>
              <a:latin typeface="Garet"/>
              <a:ea typeface="Garet"/>
              <a:cs typeface="Garet"/>
              <a:sym typeface="Garet"/>
              <a:hlinkClick r:id="rId2" tooltip="https://www.mdpi.com/2673-2688/6/8/183"/>
            </a:endParaRPr>
          </a:p>
        </p:txBody>
      </p:sp>
      <p:grpSp>
        <p:nvGrpSpPr>
          <p:cNvPr id="11" name="Group 11"/>
          <p:cNvGrpSpPr/>
          <p:nvPr/>
        </p:nvGrpSpPr>
        <p:grpSpPr>
          <a:xfrm>
            <a:off x="5554535" y="3696033"/>
            <a:ext cx="732337" cy="73233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02</a:t>
              </a:r>
            </a:p>
          </p:txBody>
        </p:sp>
      </p:grpSp>
      <p:sp>
        <p:nvSpPr>
          <p:cNvPr id="14" name="TextBox 14"/>
          <p:cNvSpPr txBox="1"/>
          <p:nvPr/>
        </p:nvSpPr>
        <p:spPr>
          <a:xfrm>
            <a:off x="7098542" y="5033718"/>
            <a:ext cx="10448916" cy="1836420"/>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From the paper, we applied their approach of using a deque-based replay buffer with random batch sampling, which aligns with our ReplayBuffer design. We also adopt their method of pre-filling the buffer with random actions before training.</a:t>
            </a:r>
          </a:p>
        </p:txBody>
      </p:sp>
      <p:sp>
        <p:nvSpPr>
          <p:cNvPr id="15" name="TextBox 15"/>
          <p:cNvSpPr txBox="1"/>
          <p:nvPr/>
        </p:nvSpPr>
        <p:spPr>
          <a:xfrm>
            <a:off x="6896471" y="3514922"/>
            <a:ext cx="10802953" cy="217487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  Quantitative Trading using Deep Q Learning</a:t>
            </a:r>
          </a:p>
          <a:p>
            <a:pPr algn="l">
              <a:lnSpc>
                <a:spcPts val="3499"/>
              </a:lnSpc>
            </a:pPr>
            <a:r>
              <a:rPr lang="en-US" sz="2499" b="1">
                <a:solidFill>
                  <a:srgbClr val="000000"/>
                </a:solidFill>
                <a:latin typeface="Garet Bold"/>
                <a:ea typeface="Garet Bold"/>
                <a:cs typeface="Garet Bold"/>
                <a:sym typeface="Garet Bold"/>
              </a:rPr>
              <a:t>  Sarkar, arXiv:2304.06037 (v2), 2025</a:t>
            </a:r>
          </a:p>
          <a:p>
            <a:pPr algn="l">
              <a:lnSpc>
                <a:spcPts val="3499"/>
              </a:lnSpc>
            </a:pPr>
            <a:r>
              <a:rPr lang="en-US" sz="2499">
                <a:solidFill>
                  <a:srgbClr val="000000"/>
                </a:solidFill>
                <a:latin typeface="Garet"/>
                <a:ea typeface="Garet"/>
                <a:cs typeface="Garet"/>
                <a:sym typeface="Garet"/>
              </a:rPr>
              <a:t>  </a:t>
            </a:r>
            <a:r>
              <a:rPr lang="en-US" sz="2499" u="sng">
                <a:solidFill>
                  <a:srgbClr val="1F76B4"/>
                </a:solidFill>
                <a:latin typeface="Garet"/>
                <a:ea typeface="Garet"/>
                <a:cs typeface="Garet"/>
                <a:sym typeface="Garet"/>
                <a:hlinkClick r:id="rId3" tooltip="https://arxiv.org/abs/2304.06037"/>
              </a:rPr>
              <a:t>https://arxiv.org/abs/2304.06037</a:t>
            </a:r>
          </a:p>
          <a:p>
            <a:pPr algn="l">
              <a:lnSpc>
                <a:spcPts val="3499"/>
              </a:lnSpc>
            </a:pPr>
            <a:endParaRPr lang="en-US" sz="2499" u="sng">
              <a:solidFill>
                <a:srgbClr val="1F76B4"/>
              </a:solidFill>
              <a:latin typeface="Garet"/>
              <a:ea typeface="Garet"/>
              <a:cs typeface="Garet"/>
              <a:sym typeface="Garet"/>
              <a:hlinkClick r:id="rId3" tooltip="https://arxiv.org/abs/2304.06037"/>
            </a:endParaRPr>
          </a:p>
          <a:p>
            <a:pPr algn="l">
              <a:lnSpc>
                <a:spcPts val="3499"/>
              </a:lnSpc>
            </a:pPr>
            <a:endParaRPr lang="en-US" sz="2499" u="sng">
              <a:solidFill>
                <a:srgbClr val="1F76B4"/>
              </a:solidFill>
              <a:latin typeface="Garet"/>
              <a:ea typeface="Garet"/>
              <a:cs typeface="Garet"/>
              <a:sym typeface="Garet"/>
              <a:hlinkClick r:id="rId3" tooltip="https://arxiv.org/abs/2304.06037"/>
            </a:endParaRPr>
          </a:p>
        </p:txBody>
      </p:sp>
      <p:grpSp>
        <p:nvGrpSpPr>
          <p:cNvPr id="16" name="Group 16"/>
          <p:cNvGrpSpPr/>
          <p:nvPr/>
        </p:nvGrpSpPr>
        <p:grpSpPr>
          <a:xfrm>
            <a:off x="5622681" y="7175408"/>
            <a:ext cx="732337" cy="73233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8" name="TextBox 18"/>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03</a:t>
              </a:r>
            </a:p>
          </p:txBody>
        </p:sp>
      </p:grpSp>
      <p:sp>
        <p:nvSpPr>
          <p:cNvPr id="19" name="TextBox 19"/>
          <p:cNvSpPr txBox="1"/>
          <p:nvPr/>
        </p:nvSpPr>
        <p:spPr>
          <a:xfrm>
            <a:off x="7098542" y="1392888"/>
            <a:ext cx="10634507" cy="1836420"/>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From the 2024 study, we incorporated the concept of defining the reward as the proportional change in portfolio value, consistent with our formulation (new_val - prev_val) / (prev_val + 1e-6). We also adopt their methodology of computing portfolio value as  cash + shares × price,</a:t>
            </a:r>
          </a:p>
        </p:txBody>
      </p:sp>
      <p:sp>
        <p:nvSpPr>
          <p:cNvPr id="20" name="TextBox 20"/>
          <p:cNvSpPr txBox="1"/>
          <p:nvPr/>
        </p:nvSpPr>
        <p:spPr>
          <a:xfrm>
            <a:off x="7031293" y="430603"/>
            <a:ext cx="10481589" cy="127952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 Enhancing Stock Trading Strategies , 2024</a:t>
            </a:r>
          </a:p>
          <a:p>
            <a:pPr algn="l">
              <a:lnSpc>
                <a:spcPts val="3359"/>
              </a:lnSpc>
            </a:pPr>
            <a:r>
              <a:rPr lang="en-US" sz="2400" b="1">
                <a:solidFill>
                  <a:srgbClr val="1F76B4"/>
                </a:solidFill>
                <a:latin typeface="Garet Bold"/>
                <a:ea typeface="Garet Bold"/>
                <a:cs typeface="Garet Bold"/>
                <a:sym typeface="Garet Bold"/>
              </a:rPr>
              <a:t> </a:t>
            </a:r>
            <a:r>
              <a:rPr lang="en-US" sz="2400">
                <a:solidFill>
                  <a:srgbClr val="1F76B4"/>
                </a:solidFill>
                <a:latin typeface="Garet"/>
                <a:ea typeface="Garet"/>
                <a:cs typeface="Garet"/>
                <a:sym typeface="Garet"/>
              </a:rPr>
              <a:t>https://www.worldscientific.com/doi/10.1142/S0218126624502761</a:t>
            </a:r>
          </a:p>
          <a:p>
            <a:pPr algn="l">
              <a:lnSpc>
                <a:spcPts val="3499"/>
              </a:lnSpc>
            </a:pPr>
            <a:endParaRPr lang="en-US" sz="2400">
              <a:solidFill>
                <a:srgbClr val="1F76B4"/>
              </a:solidFill>
              <a:latin typeface="Garet"/>
              <a:ea typeface="Garet"/>
              <a:cs typeface="Garet"/>
              <a:sym typeface="Garet"/>
            </a:endParaRPr>
          </a:p>
        </p:txBody>
      </p:sp>
      <p:grpSp>
        <p:nvGrpSpPr>
          <p:cNvPr id="21" name="Group 21"/>
          <p:cNvGrpSpPr/>
          <p:nvPr/>
        </p:nvGrpSpPr>
        <p:grpSpPr>
          <a:xfrm rot="5400000">
            <a:off x="5324660" y="9048119"/>
            <a:ext cx="596043" cy="596043"/>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377858" y="3255524"/>
            <a:ext cx="4961711" cy="547371"/>
          </a:xfrm>
          <a:prstGeom prst="rect">
            <a:avLst/>
          </a:prstGeom>
        </p:spPr>
        <p:txBody>
          <a:bodyPr lIns="0" tIns="0" rIns="0" bIns="0" rtlCol="0" anchor="t">
            <a:spAutoFit/>
          </a:bodyPr>
          <a:lstStyle/>
          <a:p>
            <a:pPr algn="l">
              <a:lnSpc>
                <a:spcPts val="4479"/>
              </a:lnSpc>
              <a:spcBef>
                <a:spcPct val="0"/>
              </a:spcBef>
            </a:pPr>
            <a:r>
              <a:rPr lang="en-US" sz="3199" b="1">
                <a:solidFill>
                  <a:srgbClr val="FFFFFF"/>
                </a:solidFill>
                <a:latin typeface="Inter Bold"/>
                <a:ea typeface="Inter Bold"/>
                <a:cs typeface="Inter Bold"/>
                <a:sym typeface="Inter Bold"/>
              </a:rPr>
              <a:t>Deep Q Network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5134160" cy="10287000"/>
            <a:chOff x="0" y="0"/>
            <a:chExt cx="1352207" cy="2709333"/>
          </a:xfrm>
        </p:grpSpPr>
        <p:sp>
          <p:nvSpPr>
            <p:cNvPr id="3" name="Freeform 3"/>
            <p:cNvSpPr/>
            <p:nvPr/>
          </p:nvSpPr>
          <p:spPr>
            <a:xfrm>
              <a:off x="0" y="0"/>
              <a:ext cx="1352207" cy="2709333"/>
            </a:xfrm>
            <a:custGeom>
              <a:avLst/>
              <a:gdLst/>
              <a:ahLst/>
              <a:cxnLst/>
              <a:rect l="l" t="t" r="r" b="b"/>
              <a:pathLst>
                <a:path w="1352207" h="2709333">
                  <a:moveTo>
                    <a:pt x="0" y="0"/>
                  </a:moveTo>
                  <a:lnTo>
                    <a:pt x="1352207" y="0"/>
                  </a:lnTo>
                  <a:lnTo>
                    <a:pt x="1352207" y="2709333"/>
                  </a:lnTo>
                  <a:lnTo>
                    <a:pt x="0" y="2709333"/>
                  </a:lnTo>
                  <a:close/>
                </a:path>
              </a:pathLst>
            </a:custGeom>
            <a:solidFill>
              <a:srgbClr val="0345E4"/>
            </a:solidFill>
          </p:spPr>
        </p:sp>
        <p:sp>
          <p:nvSpPr>
            <p:cNvPr id="4" name="TextBox 4"/>
            <p:cNvSpPr txBox="1"/>
            <p:nvPr/>
          </p:nvSpPr>
          <p:spPr>
            <a:xfrm>
              <a:off x="0" y="-38100"/>
              <a:ext cx="1352207"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282608" y="707741"/>
            <a:ext cx="4568944" cy="1739901"/>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LITERATURE REVIEW</a:t>
            </a:r>
          </a:p>
        </p:txBody>
      </p:sp>
      <p:grpSp>
        <p:nvGrpSpPr>
          <p:cNvPr id="6" name="Group 6"/>
          <p:cNvGrpSpPr/>
          <p:nvPr/>
        </p:nvGrpSpPr>
        <p:grpSpPr>
          <a:xfrm>
            <a:off x="5771952" y="662532"/>
            <a:ext cx="732337" cy="73233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04</a:t>
              </a:r>
            </a:p>
          </p:txBody>
        </p:sp>
      </p:grpSp>
      <p:sp>
        <p:nvSpPr>
          <p:cNvPr id="9" name="TextBox 9"/>
          <p:cNvSpPr txBox="1"/>
          <p:nvPr/>
        </p:nvSpPr>
        <p:spPr>
          <a:xfrm>
            <a:off x="7142080" y="6877597"/>
            <a:ext cx="10897708" cy="1325972"/>
          </a:xfrm>
          <a:prstGeom prst="rect">
            <a:avLst/>
          </a:prstGeom>
        </p:spPr>
        <p:txBody>
          <a:bodyPr lIns="0" tIns="0" rIns="0" bIns="0" rtlCol="0" anchor="t">
            <a:spAutoFit/>
          </a:bodyPr>
          <a:lstStyle/>
          <a:p>
            <a:pPr algn="l">
              <a:lnSpc>
                <a:spcPts val="3564"/>
              </a:lnSpc>
            </a:pPr>
            <a:r>
              <a:rPr lang="en-US" sz="2546" b="1">
                <a:solidFill>
                  <a:srgbClr val="000000"/>
                </a:solidFill>
                <a:latin typeface="Garet Bold"/>
                <a:ea typeface="Garet Bold"/>
                <a:cs typeface="Garet Bold"/>
                <a:sym typeface="Garet Bold"/>
              </a:rPr>
              <a:t>“Proximal Policy Optimization Algorithms” — John</a:t>
            </a:r>
          </a:p>
          <a:p>
            <a:pPr algn="l">
              <a:lnSpc>
                <a:spcPts val="3564"/>
              </a:lnSpc>
            </a:pPr>
            <a:r>
              <a:rPr lang="en-US" sz="2546" b="1">
                <a:solidFill>
                  <a:srgbClr val="000000"/>
                </a:solidFill>
                <a:latin typeface="Garet Bold"/>
                <a:ea typeface="Garet Bold"/>
                <a:cs typeface="Garet Bold"/>
                <a:sym typeface="Garet Bold"/>
              </a:rPr>
              <a:t> Schulman et al. (2017), with GAE updates in 2023 </a:t>
            </a:r>
          </a:p>
          <a:p>
            <a:pPr algn="l">
              <a:lnSpc>
                <a:spcPts val="3564"/>
              </a:lnSpc>
            </a:pPr>
            <a:r>
              <a:rPr lang="en-US" sz="2546">
                <a:solidFill>
                  <a:srgbClr val="1F76B4"/>
                </a:solidFill>
                <a:latin typeface="Garet"/>
                <a:ea typeface="Garet"/>
                <a:cs typeface="Garet"/>
                <a:sym typeface="Garet"/>
              </a:rPr>
              <a:t>https://arxiv.org/abs/1707.06347</a:t>
            </a:r>
          </a:p>
        </p:txBody>
      </p:sp>
      <p:grpSp>
        <p:nvGrpSpPr>
          <p:cNvPr id="10" name="Group 10"/>
          <p:cNvGrpSpPr/>
          <p:nvPr/>
        </p:nvGrpSpPr>
        <p:grpSpPr>
          <a:xfrm>
            <a:off x="5771952" y="4085226"/>
            <a:ext cx="732337" cy="73233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05</a:t>
              </a:r>
            </a:p>
          </p:txBody>
        </p:sp>
      </p:grpSp>
      <p:sp>
        <p:nvSpPr>
          <p:cNvPr id="13" name="TextBox 13"/>
          <p:cNvSpPr txBox="1"/>
          <p:nvPr/>
        </p:nvSpPr>
        <p:spPr>
          <a:xfrm>
            <a:off x="7139781" y="5036638"/>
            <a:ext cx="10899241" cy="1369695"/>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We used learnable ticker embeddings so each stock has its own small vector. This embedding is created with nn.Embedding. It helps the model recognize which ticker it is trading and improves multi-stock learning.</a:t>
            </a:r>
          </a:p>
        </p:txBody>
      </p:sp>
      <p:sp>
        <p:nvSpPr>
          <p:cNvPr id="14" name="TextBox 14"/>
          <p:cNvSpPr txBox="1"/>
          <p:nvPr/>
        </p:nvSpPr>
        <p:spPr>
          <a:xfrm>
            <a:off x="7139781" y="3957138"/>
            <a:ext cx="10480056" cy="860425"/>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Ticker Embeddings in Multi-Stock RL - Li et al., NeurIPS 2023</a:t>
            </a:r>
          </a:p>
          <a:p>
            <a:pPr algn="l">
              <a:lnSpc>
                <a:spcPts val="3499"/>
              </a:lnSpc>
            </a:pPr>
            <a:r>
              <a:rPr lang="en-US" sz="2499" u="sng">
                <a:solidFill>
                  <a:srgbClr val="1F76B4"/>
                </a:solidFill>
                <a:latin typeface="Garet"/>
                <a:ea typeface="Garet"/>
                <a:cs typeface="Garet"/>
                <a:sym typeface="Garet"/>
                <a:hlinkClick r:id="rId2" tooltip="https://ojs.aaai.org/index.php/AAAI/article/view/28456"/>
              </a:rPr>
              <a:t>https://ojs.aaai.org/index.php/AAAI/article/view/28456</a:t>
            </a:r>
          </a:p>
        </p:txBody>
      </p:sp>
      <p:grpSp>
        <p:nvGrpSpPr>
          <p:cNvPr id="15" name="Group 15"/>
          <p:cNvGrpSpPr/>
          <p:nvPr/>
        </p:nvGrpSpPr>
        <p:grpSpPr>
          <a:xfrm>
            <a:off x="5771952" y="6925222"/>
            <a:ext cx="732337" cy="73233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7" name="TextBox 17"/>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06</a:t>
              </a:r>
            </a:p>
          </p:txBody>
        </p:sp>
      </p:grpSp>
      <p:sp>
        <p:nvSpPr>
          <p:cNvPr id="18" name="TextBox 18"/>
          <p:cNvSpPr txBox="1"/>
          <p:nvPr/>
        </p:nvSpPr>
        <p:spPr>
          <a:xfrm>
            <a:off x="7142464" y="1871225"/>
            <a:ext cx="10899241" cy="1836420"/>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Reward in our model is calculated using log(new_val / prev_val) plus an activity term to encourage balanced trading. For evaluation, We also use Sharpe Ratio and Total Return, matching the metrics highlighted in the paper.</a:t>
            </a:r>
          </a:p>
        </p:txBody>
      </p:sp>
      <p:sp>
        <p:nvSpPr>
          <p:cNvPr id="19" name="TextBox 19"/>
          <p:cNvSpPr txBox="1"/>
          <p:nvPr/>
        </p:nvSpPr>
        <p:spPr>
          <a:xfrm>
            <a:off x="7142464" y="430712"/>
            <a:ext cx="10477373" cy="2611993"/>
          </a:xfrm>
          <a:prstGeom prst="rect">
            <a:avLst/>
          </a:prstGeom>
        </p:spPr>
        <p:txBody>
          <a:bodyPr lIns="0" tIns="0" rIns="0" bIns="0" rtlCol="0" anchor="t">
            <a:spAutoFit/>
          </a:bodyPr>
          <a:lstStyle/>
          <a:p>
            <a:pPr algn="l">
              <a:lnSpc>
                <a:spcPts val="3498"/>
              </a:lnSpc>
            </a:pPr>
            <a:r>
              <a:rPr lang="en-US" sz="2498" b="1">
                <a:solidFill>
                  <a:srgbClr val="000000"/>
                </a:solidFill>
                <a:latin typeface="Garet Bold"/>
                <a:ea typeface="Garet Bold"/>
                <a:cs typeface="Garet Bold"/>
                <a:sym typeface="Garet Bold"/>
              </a:rPr>
              <a:t> Reinforcement Learning for Portfolio Management  -   Jiang et al., AAAI 2024</a:t>
            </a:r>
          </a:p>
          <a:p>
            <a:pPr algn="l">
              <a:lnSpc>
                <a:spcPts val="3498"/>
              </a:lnSpc>
            </a:pPr>
            <a:r>
              <a:rPr lang="en-US" sz="2498" u="sng">
                <a:solidFill>
                  <a:srgbClr val="1F76B4"/>
                </a:solidFill>
                <a:latin typeface="Garet"/>
                <a:ea typeface="Garet"/>
                <a:cs typeface="Garet"/>
                <a:sym typeface="Garet"/>
                <a:hlinkClick r:id="rId2" tooltip="https://ojs.aaai.org/index.php/AAAI/article/view/28456"/>
              </a:rPr>
              <a:t>https://ojs.aaai.org/index.php/AAAI/article/view/28456</a:t>
            </a:r>
          </a:p>
          <a:p>
            <a:pPr algn="l">
              <a:lnSpc>
                <a:spcPts val="3498"/>
              </a:lnSpc>
            </a:pPr>
            <a:endParaRPr lang="en-US" sz="2498" u="sng">
              <a:solidFill>
                <a:srgbClr val="1F76B4"/>
              </a:solidFill>
              <a:latin typeface="Garet"/>
              <a:ea typeface="Garet"/>
              <a:cs typeface="Garet"/>
              <a:sym typeface="Garet"/>
              <a:hlinkClick r:id="rId2" tooltip="https://ojs.aaai.org/index.php/AAAI/article/view/28456"/>
            </a:endParaRPr>
          </a:p>
          <a:p>
            <a:pPr algn="l">
              <a:lnSpc>
                <a:spcPts val="3498"/>
              </a:lnSpc>
            </a:pPr>
            <a:endParaRPr lang="en-US" sz="2498" u="sng">
              <a:solidFill>
                <a:srgbClr val="1F76B4"/>
              </a:solidFill>
              <a:latin typeface="Garet"/>
              <a:ea typeface="Garet"/>
              <a:cs typeface="Garet"/>
              <a:sym typeface="Garet"/>
              <a:hlinkClick r:id="rId2" tooltip="https://ojs.aaai.org/index.php/AAAI/article/view/28456"/>
            </a:endParaRPr>
          </a:p>
          <a:p>
            <a:pPr algn="l">
              <a:lnSpc>
                <a:spcPts val="3498"/>
              </a:lnSpc>
            </a:pPr>
            <a:endParaRPr lang="en-US" sz="2498" u="sng">
              <a:solidFill>
                <a:srgbClr val="1F76B4"/>
              </a:solidFill>
              <a:latin typeface="Garet"/>
              <a:ea typeface="Garet"/>
              <a:cs typeface="Garet"/>
              <a:sym typeface="Garet"/>
              <a:hlinkClick r:id="rId2" tooltip="https://ojs.aaai.org/index.php/AAAI/article/view/28456"/>
            </a:endParaRPr>
          </a:p>
        </p:txBody>
      </p:sp>
      <p:grpSp>
        <p:nvGrpSpPr>
          <p:cNvPr id="20" name="Group 20"/>
          <p:cNvGrpSpPr/>
          <p:nvPr/>
        </p:nvGrpSpPr>
        <p:grpSpPr>
          <a:xfrm rot="5400000">
            <a:off x="5324660" y="9048119"/>
            <a:ext cx="596043" cy="596043"/>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62949" y="2598299"/>
            <a:ext cx="4961711" cy="1109346"/>
          </a:xfrm>
          <a:prstGeom prst="rect">
            <a:avLst/>
          </a:prstGeom>
        </p:spPr>
        <p:txBody>
          <a:bodyPr lIns="0" tIns="0" rIns="0" bIns="0" rtlCol="0" anchor="t">
            <a:spAutoFit/>
          </a:bodyPr>
          <a:lstStyle/>
          <a:p>
            <a:pPr algn="l">
              <a:lnSpc>
                <a:spcPts val="4479"/>
              </a:lnSpc>
              <a:spcBef>
                <a:spcPct val="0"/>
              </a:spcBef>
            </a:pPr>
            <a:r>
              <a:rPr lang="en-US" sz="3199" b="1">
                <a:solidFill>
                  <a:srgbClr val="FFFFFF"/>
                </a:solidFill>
                <a:latin typeface="Inter Bold"/>
                <a:ea typeface="Inter Bold"/>
                <a:cs typeface="Inter Bold"/>
                <a:sym typeface="Inter Bold"/>
              </a:rPr>
              <a:t>Proximal Policy optimization</a:t>
            </a:r>
          </a:p>
        </p:txBody>
      </p:sp>
      <p:sp>
        <p:nvSpPr>
          <p:cNvPr id="24" name="TextBox 24"/>
          <p:cNvSpPr txBox="1"/>
          <p:nvPr/>
        </p:nvSpPr>
        <p:spPr>
          <a:xfrm>
            <a:off x="7142080" y="8251194"/>
            <a:ext cx="10897708" cy="1836420"/>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We applied the clipped PPO objective for stable policy updates. Generalized Advantage Estimation (GAE, λ = 0.95) is used exactly as described in the paper. The training includes value-function loss and an entropy bonus to improve exploration.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3001" y="6954065"/>
            <a:ext cx="5421286" cy="2799389"/>
            <a:chOff x="0" y="0"/>
            <a:chExt cx="1427828" cy="737288"/>
          </a:xfrm>
        </p:grpSpPr>
        <p:sp>
          <p:nvSpPr>
            <p:cNvPr id="3" name="Freeform 3"/>
            <p:cNvSpPr/>
            <p:nvPr/>
          </p:nvSpPr>
          <p:spPr>
            <a:xfrm>
              <a:off x="0" y="0"/>
              <a:ext cx="1427828" cy="737288"/>
            </a:xfrm>
            <a:custGeom>
              <a:avLst/>
              <a:gdLst/>
              <a:ahLst/>
              <a:cxnLst/>
              <a:rect l="l" t="t" r="r" b="b"/>
              <a:pathLst>
                <a:path w="1427828" h="73728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0345E4"/>
            </a:solidFill>
          </p:spPr>
        </p:sp>
        <p:sp>
          <p:nvSpPr>
            <p:cNvPr id="4" name="TextBox 4"/>
            <p:cNvSpPr txBox="1"/>
            <p:nvPr/>
          </p:nvSpPr>
          <p:spPr>
            <a:xfrm>
              <a:off x="0" y="-38100"/>
              <a:ext cx="1427828" cy="77538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38903" y="1823052"/>
            <a:ext cx="5089482" cy="7782852"/>
            <a:chOff x="0" y="0"/>
            <a:chExt cx="1340440" cy="2049805"/>
          </a:xfrm>
        </p:grpSpPr>
        <p:sp>
          <p:nvSpPr>
            <p:cNvPr id="6" name="Freeform 6"/>
            <p:cNvSpPr/>
            <p:nvPr/>
          </p:nvSpPr>
          <p:spPr>
            <a:xfrm>
              <a:off x="0" y="0"/>
              <a:ext cx="1340440" cy="2049805"/>
            </a:xfrm>
            <a:custGeom>
              <a:avLst/>
              <a:gdLst/>
              <a:ahLst/>
              <a:cxnLst/>
              <a:rect l="l" t="t" r="r" b="b"/>
              <a:pathLst>
                <a:path w="1340440" h="2049805">
                  <a:moveTo>
                    <a:pt x="77579" y="0"/>
                  </a:moveTo>
                  <a:lnTo>
                    <a:pt x="1262861" y="0"/>
                  </a:lnTo>
                  <a:cubicBezTo>
                    <a:pt x="1305707" y="0"/>
                    <a:pt x="1340440" y="34733"/>
                    <a:pt x="1340440" y="77579"/>
                  </a:cubicBezTo>
                  <a:lnTo>
                    <a:pt x="1340440" y="1972226"/>
                  </a:lnTo>
                  <a:cubicBezTo>
                    <a:pt x="1340440" y="1992801"/>
                    <a:pt x="1332266" y="2012533"/>
                    <a:pt x="1317717" y="2027082"/>
                  </a:cubicBezTo>
                  <a:cubicBezTo>
                    <a:pt x="1303169" y="2041631"/>
                    <a:pt x="1283436" y="2049805"/>
                    <a:pt x="1262861" y="2049805"/>
                  </a:cubicBezTo>
                  <a:lnTo>
                    <a:pt x="77579" y="2049805"/>
                  </a:lnTo>
                  <a:cubicBezTo>
                    <a:pt x="57004" y="2049805"/>
                    <a:pt x="37271" y="2041631"/>
                    <a:pt x="22722" y="2027082"/>
                  </a:cubicBezTo>
                  <a:cubicBezTo>
                    <a:pt x="8173" y="2012533"/>
                    <a:pt x="0" y="1992801"/>
                    <a:pt x="0" y="1972226"/>
                  </a:cubicBezTo>
                  <a:lnTo>
                    <a:pt x="0" y="77579"/>
                  </a:lnTo>
                  <a:cubicBezTo>
                    <a:pt x="0" y="57004"/>
                    <a:pt x="8173" y="37271"/>
                    <a:pt x="22722" y="22722"/>
                  </a:cubicBezTo>
                  <a:cubicBezTo>
                    <a:pt x="37271" y="8173"/>
                    <a:pt x="57004" y="0"/>
                    <a:pt x="77579" y="0"/>
                  </a:cubicBezTo>
                  <a:close/>
                </a:path>
              </a:pathLst>
            </a:custGeom>
            <a:solidFill>
              <a:srgbClr val="E8ECEC"/>
            </a:solidFill>
          </p:spPr>
        </p:sp>
        <p:sp>
          <p:nvSpPr>
            <p:cNvPr id="7" name="TextBox 7"/>
            <p:cNvSpPr txBox="1"/>
            <p:nvPr/>
          </p:nvSpPr>
          <p:spPr>
            <a:xfrm>
              <a:off x="0" y="-38100"/>
              <a:ext cx="1340440" cy="208790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6453352" y="6954065"/>
            <a:ext cx="5421286" cy="2799389"/>
            <a:chOff x="0" y="0"/>
            <a:chExt cx="1427828" cy="737288"/>
          </a:xfrm>
        </p:grpSpPr>
        <p:sp>
          <p:nvSpPr>
            <p:cNvPr id="9" name="Freeform 9"/>
            <p:cNvSpPr/>
            <p:nvPr/>
          </p:nvSpPr>
          <p:spPr>
            <a:xfrm>
              <a:off x="0" y="0"/>
              <a:ext cx="1427828" cy="737288"/>
            </a:xfrm>
            <a:custGeom>
              <a:avLst/>
              <a:gdLst/>
              <a:ahLst/>
              <a:cxnLst/>
              <a:rect l="l" t="t" r="r" b="b"/>
              <a:pathLst>
                <a:path w="1427828" h="73728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0345E4"/>
            </a:solidFill>
          </p:spPr>
        </p:sp>
        <p:sp>
          <p:nvSpPr>
            <p:cNvPr id="10" name="TextBox 10"/>
            <p:cNvSpPr txBox="1"/>
            <p:nvPr/>
          </p:nvSpPr>
          <p:spPr>
            <a:xfrm>
              <a:off x="0" y="-38100"/>
              <a:ext cx="1427828" cy="775388"/>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619253" y="1823052"/>
            <a:ext cx="5089482" cy="7782852"/>
            <a:chOff x="0" y="0"/>
            <a:chExt cx="1340440" cy="2049805"/>
          </a:xfrm>
        </p:grpSpPr>
        <p:sp>
          <p:nvSpPr>
            <p:cNvPr id="12" name="Freeform 12"/>
            <p:cNvSpPr/>
            <p:nvPr/>
          </p:nvSpPr>
          <p:spPr>
            <a:xfrm>
              <a:off x="0" y="0"/>
              <a:ext cx="1340440" cy="2049805"/>
            </a:xfrm>
            <a:custGeom>
              <a:avLst/>
              <a:gdLst/>
              <a:ahLst/>
              <a:cxnLst/>
              <a:rect l="l" t="t" r="r" b="b"/>
              <a:pathLst>
                <a:path w="1340440" h="2049805">
                  <a:moveTo>
                    <a:pt x="77579" y="0"/>
                  </a:moveTo>
                  <a:lnTo>
                    <a:pt x="1262861" y="0"/>
                  </a:lnTo>
                  <a:cubicBezTo>
                    <a:pt x="1305707" y="0"/>
                    <a:pt x="1340440" y="34733"/>
                    <a:pt x="1340440" y="77579"/>
                  </a:cubicBezTo>
                  <a:lnTo>
                    <a:pt x="1340440" y="1972226"/>
                  </a:lnTo>
                  <a:cubicBezTo>
                    <a:pt x="1340440" y="1992801"/>
                    <a:pt x="1332266" y="2012533"/>
                    <a:pt x="1317717" y="2027082"/>
                  </a:cubicBezTo>
                  <a:cubicBezTo>
                    <a:pt x="1303169" y="2041631"/>
                    <a:pt x="1283436" y="2049805"/>
                    <a:pt x="1262861" y="2049805"/>
                  </a:cubicBezTo>
                  <a:lnTo>
                    <a:pt x="77579" y="2049805"/>
                  </a:lnTo>
                  <a:cubicBezTo>
                    <a:pt x="57004" y="2049805"/>
                    <a:pt x="37271" y="2041631"/>
                    <a:pt x="22722" y="2027082"/>
                  </a:cubicBezTo>
                  <a:cubicBezTo>
                    <a:pt x="8173" y="2012533"/>
                    <a:pt x="0" y="1992801"/>
                    <a:pt x="0" y="1972226"/>
                  </a:cubicBezTo>
                  <a:lnTo>
                    <a:pt x="0" y="77579"/>
                  </a:lnTo>
                  <a:cubicBezTo>
                    <a:pt x="0" y="57004"/>
                    <a:pt x="8173" y="37271"/>
                    <a:pt x="22722" y="22722"/>
                  </a:cubicBezTo>
                  <a:cubicBezTo>
                    <a:pt x="37271" y="8173"/>
                    <a:pt x="57004" y="0"/>
                    <a:pt x="77579" y="0"/>
                  </a:cubicBezTo>
                  <a:close/>
                </a:path>
              </a:pathLst>
            </a:custGeom>
            <a:solidFill>
              <a:srgbClr val="E8ECEC"/>
            </a:solidFill>
          </p:spPr>
        </p:sp>
        <p:sp>
          <p:nvSpPr>
            <p:cNvPr id="13" name="TextBox 13"/>
            <p:cNvSpPr txBox="1"/>
            <p:nvPr/>
          </p:nvSpPr>
          <p:spPr>
            <a:xfrm>
              <a:off x="0" y="-38100"/>
              <a:ext cx="1340440" cy="2087905"/>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2131813" y="6954065"/>
            <a:ext cx="5421286" cy="2799389"/>
            <a:chOff x="0" y="0"/>
            <a:chExt cx="1427828" cy="737288"/>
          </a:xfrm>
        </p:grpSpPr>
        <p:sp>
          <p:nvSpPr>
            <p:cNvPr id="15" name="Freeform 15"/>
            <p:cNvSpPr/>
            <p:nvPr/>
          </p:nvSpPr>
          <p:spPr>
            <a:xfrm>
              <a:off x="0" y="0"/>
              <a:ext cx="1427828" cy="737288"/>
            </a:xfrm>
            <a:custGeom>
              <a:avLst/>
              <a:gdLst/>
              <a:ahLst/>
              <a:cxnLst/>
              <a:rect l="l" t="t" r="r" b="b"/>
              <a:pathLst>
                <a:path w="1427828" h="73728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0345E4"/>
            </a:solidFill>
          </p:spPr>
        </p:sp>
        <p:sp>
          <p:nvSpPr>
            <p:cNvPr id="16" name="TextBox 16"/>
            <p:cNvSpPr txBox="1"/>
            <p:nvPr/>
          </p:nvSpPr>
          <p:spPr>
            <a:xfrm>
              <a:off x="0" y="-38100"/>
              <a:ext cx="1427828" cy="775388"/>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2297714" y="1823052"/>
            <a:ext cx="5089482" cy="7782852"/>
            <a:chOff x="0" y="0"/>
            <a:chExt cx="1340440" cy="2049805"/>
          </a:xfrm>
        </p:grpSpPr>
        <p:sp>
          <p:nvSpPr>
            <p:cNvPr id="18" name="Freeform 18"/>
            <p:cNvSpPr/>
            <p:nvPr/>
          </p:nvSpPr>
          <p:spPr>
            <a:xfrm>
              <a:off x="0" y="0"/>
              <a:ext cx="1340440" cy="2049805"/>
            </a:xfrm>
            <a:custGeom>
              <a:avLst/>
              <a:gdLst/>
              <a:ahLst/>
              <a:cxnLst/>
              <a:rect l="l" t="t" r="r" b="b"/>
              <a:pathLst>
                <a:path w="1340440" h="2049805">
                  <a:moveTo>
                    <a:pt x="77579" y="0"/>
                  </a:moveTo>
                  <a:lnTo>
                    <a:pt x="1262861" y="0"/>
                  </a:lnTo>
                  <a:cubicBezTo>
                    <a:pt x="1305707" y="0"/>
                    <a:pt x="1340440" y="34733"/>
                    <a:pt x="1340440" y="77579"/>
                  </a:cubicBezTo>
                  <a:lnTo>
                    <a:pt x="1340440" y="1972226"/>
                  </a:lnTo>
                  <a:cubicBezTo>
                    <a:pt x="1340440" y="1992801"/>
                    <a:pt x="1332266" y="2012533"/>
                    <a:pt x="1317717" y="2027082"/>
                  </a:cubicBezTo>
                  <a:cubicBezTo>
                    <a:pt x="1303169" y="2041631"/>
                    <a:pt x="1283436" y="2049805"/>
                    <a:pt x="1262861" y="2049805"/>
                  </a:cubicBezTo>
                  <a:lnTo>
                    <a:pt x="77579" y="2049805"/>
                  </a:lnTo>
                  <a:cubicBezTo>
                    <a:pt x="57004" y="2049805"/>
                    <a:pt x="37271" y="2041631"/>
                    <a:pt x="22722" y="2027082"/>
                  </a:cubicBezTo>
                  <a:cubicBezTo>
                    <a:pt x="8173" y="2012533"/>
                    <a:pt x="0" y="1992801"/>
                    <a:pt x="0" y="1972226"/>
                  </a:cubicBezTo>
                  <a:lnTo>
                    <a:pt x="0" y="77579"/>
                  </a:lnTo>
                  <a:cubicBezTo>
                    <a:pt x="0" y="57004"/>
                    <a:pt x="8173" y="37271"/>
                    <a:pt x="22722" y="22722"/>
                  </a:cubicBezTo>
                  <a:cubicBezTo>
                    <a:pt x="37271" y="8173"/>
                    <a:pt x="57004" y="0"/>
                    <a:pt x="77579" y="0"/>
                  </a:cubicBezTo>
                  <a:close/>
                </a:path>
              </a:pathLst>
            </a:custGeom>
            <a:solidFill>
              <a:srgbClr val="E8ECEC"/>
            </a:solidFill>
          </p:spPr>
        </p:sp>
        <p:sp>
          <p:nvSpPr>
            <p:cNvPr id="19" name="TextBox 19"/>
            <p:cNvSpPr txBox="1"/>
            <p:nvPr/>
          </p:nvSpPr>
          <p:spPr>
            <a:xfrm>
              <a:off x="0" y="-38100"/>
              <a:ext cx="1340440" cy="2087905"/>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9050" y="0"/>
            <a:ext cx="17368147" cy="1543194"/>
            <a:chOff x="0" y="0"/>
            <a:chExt cx="4574327" cy="406438"/>
          </a:xfrm>
        </p:grpSpPr>
        <p:sp>
          <p:nvSpPr>
            <p:cNvPr id="21" name="Freeform 21"/>
            <p:cNvSpPr/>
            <p:nvPr/>
          </p:nvSpPr>
          <p:spPr>
            <a:xfrm>
              <a:off x="0" y="0"/>
              <a:ext cx="4574327" cy="406438"/>
            </a:xfrm>
            <a:custGeom>
              <a:avLst/>
              <a:gdLst/>
              <a:ahLst/>
              <a:cxnLst/>
              <a:rect l="l" t="t" r="r" b="b"/>
              <a:pathLst>
                <a:path w="4574327" h="406438">
                  <a:moveTo>
                    <a:pt x="0" y="0"/>
                  </a:moveTo>
                  <a:lnTo>
                    <a:pt x="4574327" y="0"/>
                  </a:lnTo>
                  <a:lnTo>
                    <a:pt x="4574327" y="406438"/>
                  </a:lnTo>
                  <a:lnTo>
                    <a:pt x="0" y="406438"/>
                  </a:lnTo>
                  <a:close/>
                </a:path>
              </a:pathLst>
            </a:custGeom>
            <a:solidFill>
              <a:srgbClr val="0345E4"/>
            </a:solidFill>
          </p:spPr>
        </p:sp>
        <p:sp>
          <p:nvSpPr>
            <p:cNvPr id="22" name="TextBox 22"/>
            <p:cNvSpPr txBox="1"/>
            <p:nvPr/>
          </p:nvSpPr>
          <p:spPr>
            <a:xfrm>
              <a:off x="0" y="-38100"/>
              <a:ext cx="4574327" cy="444538"/>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938903" y="296934"/>
            <a:ext cx="10769833" cy="85407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METHODOLOGY- DATASET</a:t>
            </a:r>
          </a:p>
        </p:txBody>
      </p:sp>
      <p:sp>
        <p:nvSpPr>
          <p:cNvPr id="24" name="TextBox 24"/>
          <p:cNvSpPr txBox="1"/>
          <p:nvPr/>
        </p:nvSpPr>
        <p:spPr>
          <a:xfrm>
            <a:off x="1430496" y="2119676"/>
            <a:ext cx="4112433" cy="646431"/>
          </a:xfrm>
          <a:prstGeom prst="rect">
            <a:avLst/>
          </a:prstGeom>
        </p:spPr>
        <p:txBody>
          <a:bodyPr lIns="0" tIns="0" rIns="0" bIns="0" rtlCol="0" anchor="t">
            <a:spAutoFit/>
          </a:bodyPr>
          <a:lstStyle/>
          <a:p>
            <a:pPr algn="ctr">
              <a:lnSpc>
                <a:spcPts val="5319"/>
              </a:lnSpc>
            </a:pPr>
            <a:r>
              <a:rPr lang="en-US" sz="3799" b="1">
                <a:solidFill>
                  <a:srgbClr val="000000"/>
                </a:solidFill>
                <a:latin typeface="Garet Bold"/>
                <a:ea typeface="Garet Bold"/>
                <a:cs typeface="Garet Bold"/>
                <a:sym typeface="Garet Bold"/>
              </a:rPr>
              <a:t>Data Source</a:t>
            </a:r>
          </a:p>
        </p:txBody>
      </p:sp>
      <p:sp>
        <p:nvSpPr>
          <p:cNvPr id="25" name="TextBox 25"/>
          <p:cNvSpPr txBox="1"/>
          <p:nvPr/>
        </p:nvSpPr>
        <p:spPr>
          <a:xfrm>
            <a:off x="7106834" y="2129201"/>
            <a:ext cx="4112433" cy="613411"/>
          </a:xfrm>
          <a:prstGeom prst="rect">
            <a:avLst/>
          </a:prstGeom>
        </p:spPr>
        <p:txBody>
          <a:bodyPr lIns="0" tIns="0" rIns="0" bIns="0" rtlCol="0" anchor="t">
            <a:spAutoFit/>
          </a:bodyPr>
          <a:lstStyle/>
          <a:p>
            <a:pPr algn="ctr">
              <a:lnSpc>
                <a:spcPts val="5039"/>
              </a:lnSpc>
            </a:pPr>
            <a:r>
              <a:rPr lang="en-US" sz="3599" b="1">
                <a:solidFill>
                  <a:srgbClr val="000000"/>
                </a:solidFill>
                <a:latin typeface="Garet Bold"/>
                <a:ea typeface="Garet Bold"/>
                <a:cs typeface="Garet Bold"/>
                <a:sym typeface="Garet Bold"/>
              </a:rPr>
              <a:t>Time Period Split</a:t>
            </a:r>
          </a:p>
        </p:txBody>
      </p:sp>
      <p:sp>
        <p:nvSpPr>
          <p:cNvPr id="26" name="TextBox 26"/>
          <p:cNvSpPr txBox="1"/>
          <p:nvPr/>
        </p:nvSpPr>
        <p:spPr>
          <a:xfrm>
            <a:off x="12785061" y="1938523"/>
            <a:ext cx="4112433" cy="1313181"/>
          </a:xfrm>
          <a:prstGeom prst="rect">
            <a:avLst/>
          </a:prstGeom>
        </p:spPr>
        <p:txBody>
          <a:bodyPr lIns="0" tIns="0" rIns="0" bIns="0" rtlCol="0" anchor="t">
            <a:spAutoFit/>
          </a:bodyPr>
          <a:lstStyle/>
          <a:p>
            <a:pPr algn="ctr">
              <a:lnSpc>
                <a:spcPts val="5319"/>
              </a:lnSpc>
            </a:pPr>
            <a:r>
              <a:rPr lang="en-US" sz="3799" b="1">
                <a:solidFill>
                  <a:srgbClr val="000000"/>
                </a:solidFill>
                <a:latin typeface="Garet Bold"/>
                <a:ea typeface="Garet Bold"/>
                <a:cs typeface="Garet Bold"/>
                <a:sym typeface="Garet Bold"/>
              </a:rPr>
              <a:t>Data Fields &amp; Storage Format</a:t>
            </a:r>
          </a:p>
        </p:txBody>
      </p:sp>
      <p:sp>
        <p:nvSpPr>
          <p:cNvPr id="27" name="TextBox 27"/>
          <p:cNvSpPr txBox="1"/>
          <p:nvPr/>
        </p:nvSpPr>
        <p:spPr>
          <a:xfrm>
            <a:off x="996053" y="3156454"/>
            <a:ext cx="4866748" cy="7389495"/>
          </a:xfrm>
          <a:prstGeom prst="rect">
            <a:avLst/>
          </a:prstGeom>
        </p:spPr>
        <p:txBody>
          <a:bodyPr lIns="0" tIns="0" rIns="0" bIns="0" rtlCol="0" anchor="t">
            <a:spAutoFit/>
          </a:bodyPr>
          <a:lstStyle/>
          <a:p>
            <a:pPr marL="582928" lvl="1" indent="-291464" algn="just">
              <a:lnSpc>
                <a:spcPts val="4184"/>
              </a:lnSpc>
              <a:buFont typeface="Arial"/>
              <a:buChar char="•"/>
            </a:pPr>
            <a:r>
              <a:rPr lang="en-US" sz="2699">
                <a:solidFill>
                  <a:srgbClr val="000000"/>
                </a:solidFill>
                <a:latin typeface="Open Sans"/>
                <a:ea typeface="Open Sans"/>
                <a:cs typeface="Open Sans"/>
                <a:sym typeface="Open Sans"/>
              </a:rPr>
              <a:t>Source: Yahoo Finance historical CSV dataset.</a:t>
            </a:r>
          </a:p>
          <a:p>
            <a:pPr marL="582928" lvl="1" indent="-291464" algn="just">
              <a:lnSpc>
                <a:spcPts val="4184"/>
              </a:lnSpc>
              <a:buFont typeface="Arial"/>
              <a:buChar char="•"/>
            </a:pPr>
            <a:r>
              <a:rPr lang="en-US" sz="2699">
                <a:solidFill>
                  <a:srgbClr val="000000"/>
                </a:solidFill>
                <a:latin typeface="Open Sans"/>
                <a:ea typeface="Open Sans"/>
                <a:cs typeface="Open Sans"/>
                <a:sym typeface="Open Sans"/>
              </a:rPr>
              <a:t>Companies: Microsoft (MSFT), Google (GOOGL), Tesla (TSLA), Meta (META), Netflix (NFLX).</a:t>
            </a:r>
          </a:p>
          <a:p>
            <a:pPr marL="582928" lvl="1" indent="-291464" algn="just">
              <a:lnSpc>
                <a:spcPts val="4184"/>
              </a:lnSpc>
              <a:buFont typeface="Arial"/>
              <a:buChar char="•"/>
            </a:pPr>
            <a:r>
              <a:rPr lang="en-US" sz="2699">
                <a:solidFill>
                  <a:srgbClr val="000000"/>
                </a:solidFill>
                <a:latin typeface="Open Sans"/>
                <a:ea typeface="Open Sans"/>
                <a:cs typeface="Open Sans"/>
                <a:sym typeface="Open Sans"/>
              </a:rPr>
              <a:t>The dataset captures real-world stock price fluctuations, suitable for training an RL trading agent.</a:t>
            </a:r>
          </a:p>
          <a:p>
            <a:pPr algn="just">
              <a:lnSpc>
                <a:spcPts val="3255"/>
              </a:lnSpc>
            </a:pPr>
            <a:endParaRPr lang="en-US" sz="2699">
              <a:solidFill>
                <a:srgbClr val="000000"/>
              </a:solidFill>
              <a:latin typeface="Open Sans"/>
              <a:ea typeface="Open Sans"/>
              <a:cs typeface="Open Sans"/>
              <a:sym typeface="Open Sans"/>
            </a:endParaRPr>
          </a:p>
          <a:p>
            <a:pPr algn="just">
              <a:lnSpc>
                <a:spcPts val="3255"/>
              </a:lnSpc>
            </a:pPr>
            <a:endParaRPr lang="en-US" sz="2699">
              <a:solidFill>
                <a:srgbClr val="000000"/>
              </a:solidFill>
              <a:latin typeface="Open Sans"/>
              <a:ea typeface="Open Sans"/>
              <a:cs typeface="Open Sans"/>
              <a:sym typeface="Open Sans"/>
            </a:endParaRPr>
          </a:p>
          <a:p>
            <a:pPr algn="just">
              <a:lnSpc>
                <a:spcPts val="3255"/>
              </a:lnSpc>
            </a:pPr>
            <a:endParaRPr lang="en-US" sz="2699">
              <a:solidFill>
                <a:srgbClr val="000000"/>
              </a:solidFill>
              <a:latin typeface="Open Sans"/>
              <a:ea typeface="Open Sans"/>
              <a:cs typeface="Open Sans"/>
              <a:sym typeface="Open Sans"/>
            </a:endParaRPr>
          </a:p>
          <a:p>
            <a:pPr marL="0" lvl="0" indent="0" algn="just">
              <a:lnSpc>
                <a:spcPts val="3255"/>
              </a:lnSpc>
            </a:pPr>
            <a:endParaRPr lang="en-US" sz="2699">
              <a:solidFill>
                <a:srgbClr val="000000"/>
              </a:solidFill>
              <a:latin typeface="Open Sans"/>
              <a:ea typeface="Open Sans"/>
              <a:cs typeface="Open Sans"/>
              <a:sym typeface="Open Sans"/>
            </a:endParaRPr>
          </a:p>
        </p:txBody>
      </p:sp>
      <p:sp>
        <p:nvSpPr>
          <p:cNvPr id="28" name="TextBox 28"/>
          <p:cNvSpPr txBox="1"/>
          <p:nvPr/>
        </p:nvSpPr>
        <p:spPr>
          <a:xfrm>
            <a:off x="6879392" y="3229521"/>
            <a:ext cx="4567317" cy="6376383"/>
          </a:xfrm>
          <a:prstGeom prst="rect">
            <a:avLst/>
          </a:prstGeom>
        </p:spPr>
        <p:txBody>
          <a:bodyPr lIns="0" tIns="0" rIns="0" bIns="0" rtlCol="0" anchor="t">
            <a:spAutoFit/>
          </a:bodyPr>
          <a:lstStyle/>
          <a:p>
            <a:pPr algn="ctr">
              <a:lnSpc>
                <a:spcPts val="5147"/>
              </a:lnSpc>
            </a:pPr>
            <a:r>
              <a:rPr lang="en-US" sz="3320">
                <a:solidFill>
                  <a:srgbClr val="000000"/>
                </a:solidFill>
                <a:latin typeface="Open Sans"/>
                <a:ea typeface="Open Sans"/>
                <a:cs typeface="Open Sans"/>
                <a:sym typeface="Open Sans"/>
              </a:rPr>
              <a:t>Training: 2015 – 2020</a:t>
            </a:r>
          </a:p>
          <a:p>
            <a:pPr algn="ctr">
              <a:lnSpc>
                <a:spcPts val="5147"/>
              </a:lnSpc>
            </a:pPr>
            <a:r>
              <a:rPr lang="en-US" sz="3320">
                <a:solidFill>
                  <a:srgbClr val="000000"/>
                </a:solidFill>
                <a:latin typeface="Open Sans"/>
                <a:ea typeface="Open Sans"/>
                <a:cs typeface="Open Sans"/>
                <a:sym typeface="Open Sans"/>
              </a:rPr>
              <a:t>Validation: 2021 – 2022</a:t>
            </a:r>
          </a:p>
          <a:p>
            <a:pPr algn="ctr">
              <a:lnSpc>
                <a:spcPts val="5147"/>
              </a:lnSpc>
            </a:pPr>
            <a:r>
              <a:rPr lang="en-US" sz="3320">
                <a:solidFill>
                  <a:srgbClr val="000000"/>
                </a:solidFill>
                <a:latin typeface="Open Sans"/>
                <a:ea typeface="Open Sans"/>
                <a:cs typeface="Open Sans"/>
                <a:sym typeface="Open Sans"/>
              </a:rPr>
              <a:t>Testing: 2023 – 2024</a:t>
            </a:r>
          </a:p>
          <a:p>
            <a:pPr algn="ctr">
              <a:lnSpc>
                <a:spcPts val="5147"/>
              </a:lnSpc>
            </a:pPr>
            <a:endParaRPr lang="en-US" sz="3320">
              <a:solidFill>
                <a:srgbClr val="000000"/>
              </a:solidFill>
              <a:latin typeface="Open Sans"/>
              <a:ea typeface="Open Sans"/>
              <a:cs typeface="Open Sans"/>
              <a:sym typeface="Open Sans"/>
            </a:endParaRPr>
          </a:p>
          <a:p>
            <a:pPr algn="just">
              <a:lnSpc>
                <a:spcPts val="5147"/>
              </a:lnSpc>
            </a:pPr>
            <a:r>
              <a:rPr lang="en-US" sz="3320">
                <a:solidFill>
                  <a:srgbClr val="000000"/>
                </a:solidFill>
                <a:latin typeface="Open Sans"/>
                <a:ea typeface="Open Sans"/>
                <a:cs typeface="Open Sans"/>
                <a:sym typeface="Open Sans"/>
              </a:rPr>
              <a:t>This split ensures the model learns from past patterns and is evaluated on unseen market conditions.</a:t>
            </a:r>
          </a:p>
          <a:p>
            <a:pPr marL="0" lvl="0" indent="0" algn="just">
              <a:lnSpc>
                <a:spcPts val="4527"/>
              </a:lnSpc>
            </a:pPr>
            <a:endParaRPr lang="en-US" sz="3320">
              <a:solidFill>
                <a:srgbClr val="000000"/>
              </a:solidFill>
              <a:latin typeface="Open Sans"/>
              <a:ea typeface="Open Sans"/>
              <a:cs typeface="Open Sans"/>
              <a:sym typeface="Open Sans"/>
            </a:endParaRPr>
          </a:p>
        </p:txBody>
      </p:sp>
      <p:sp>
        <p:nvSpPr>
          <p:cNvPr id="29" name="TextBox 29"/>
          <p:cNvSpPr txBox="1"/>
          <p:nvPr/>
        </p:nvSpPr>
        <p:spPr>
          <a:xfrm>
            <a:off x="12560438" y="3382374"/>
            <a:ext cx="4813162" cy="6937654"/>
          </a:xfrm>
          <a:prstGeom prst="rect">
            <a:avLst/>
          </a:prstGeom>
        </p:spPr>
        <p:txBody>
          <a:bodyPr lIns="0" tIns="0" rIns="0" bIns="0" rtlCol="0" anchor="t">
            <a:spAutoFit/>
          </a:bodyPr>
          <a:lstStyle/>
          <a:p>
            <a:pPr algn="just">
              <a:lnSpc>
                <a:spcPts val="4684"/>
              </a:lnSpc>
            </a:pPr>
            <a:r>
              <a:rPr lang="en-US" sz="3022">
                <a:solidFill>
                  <a:srgbClr val="000000"/>
                </a:solidFill>
                <a:latin typeface="Open Sans"/>
                <a:ea typeface="Open Sans"/>
                <a:cs typeface="Open Sans"/>
                <a:sym typeface="Open Sans"/>
              </a:rPr>
              <a:t>Fields used: Open, High, Low, Close, Adjusted Close, Volume.</a:t>
            </a:r>
          </a:p>
          <a:p>
            <a:pPr algn="just">
              <a:lnSpc>
                <a:spcPts val="4684"/>
              </a:lnSpc>
            </a:pPr>
            <a:endParaRPr lang="en-US" sz="3022">
              <a:solidFill>
                <a:srgbClr val="000000"/>
              </a:solidFill>
              <a:latin typeface="Open Sans"/>
              <a:ea typeface="Open Sans"/>
              <a:cs typeface="Open Sans"/>
              <a:sym typeface="Open Sans"/>
            </a:endParaRPr>
          </a:p>
          <a:p>
            <a:pPr algn="just">
              <a:lnSpc>
                <a:spcPts val="4684"/>
              </a:lnSpc>
            </a:pPr>
            <a:r>
              <a:rPr lang="en-US" sz="3022">
                <a:solidFill>
                  <a:srgbClr val="000000"/>
                </a:solidFill>
                <a:latin typeface="Open Sans"/>
                <a:ea typeface="Open Sans"/>
                <a:cs typeface="Open Sans"/>
                <a:sym typeface="Open Sans"/>
              </a:rPr>
              <a:t>Format: Each company's data is stored in a separate CSV file for easy preprocessing and feature extraction.</a:t>
            </a:r>
          </a:p>
          <a:p>
            <a:pPr algn="just">
              <a:lnSpc>
                <a:spcPts val="4374"/>
              </a:lnSpc>
            </a:pPr>
            <a:endParaRPr lang="en-US" sz="3022">
              <a:solidFill>
                <a:srgbClr val="000000"/>
              </a:solidFill>
              <a:latin typeface="Open Sans"/>
              <a:ea typeface="Open Sans"/>
              <a:cs typeface="Open Sans"/>
              <a:sym typeface="Open Sans"/>
            </a:endParaRPr>
          </a:p>
          <a:p>
            <a:pPr algn="just">
              <a:lnSpc>
                <a:spcPts val="4374"/>
              </a:lnSpc>
            </a:pPr>
            <a:endParaRPr lang="en-US" sz="3022">
              <a:solidFill>
                <a:srgbClr val="000000"/>
              </a:solidFill>
              <a:latin typeface="Open Sans"/>
              <a:ea typeface="Open Sans"/>
              <a:cs typeface="Open Sans"/>
              <a:sym typeface="Open Sans"/>
            </a:endParaRPr>
          </a:p>
          <a:p>
            <a:pPr marL="0" lvl="0" indent="0" algn="just">
              <a:lnSpc>
                <a:spcPts val="4374"/>
              </a:lnSpc>
            </a:pPr>
            <a:endParaRPr lang="en-US" sz="3022">
              <a:solidFill>
                <a:srgbClr val="000000"/>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709419" y="1679083"/>
            <a:ext cx="0" cy="7579217"/>
          </a:xfrm>
          <a:prstGeom prst="line">
            <a:avLst/>
          </a:prstGeom>
          <a:ln w="47625" cap="flat">
            <a:solidFill>
              <a:srgbClr val="000000">
                <a:alpha val="29804"/>
              </a:srgbClr>
            </a:solidFill>
            <a:prstDash val="solid"/>
            <a:headEnd type="none" w="sm" len="sm"/>
            <a:tailEnd type="none" w="sm" len="sm"/>
          </a:ln>
        </p:spPr>
      </p:sp>
      <p:grpSp>
        <p:nvGrpSpPr>
          <p:cNvPr id="3" name="Group 3"/>
          <p:cNvGrpSpPr/>
          <p:nvPr/>
        </p:nvGrpSpPr>
        <p:grpSpPr>
          <a:xfrm>
            <a:off x="1575901" y="1679083"/>
            <a:ext cx="6640061" cy="825642"/>
            <a:chOff x="0" y="0"/>
            <a:chExt cx="3784973" cy="470633"/>
          </a:xfrm>
        </p:grpSpPr>
        <p:sp>
          <p:nvSpPr>
            <p:cNvPr id="4" name="Freeform 4"/>
            <p:cNvSpPr/>
            <p:nvPr/>
          </p:nvSpPr>
          <p:spPr>
            <a:xfrm>
              <a:off x="0" y="0"/>
              <a:ext cx="3784973" cy="470633"/>
            </a:xfrm>
            <a:custGeom>
              <a:avLst/>
              <a:gdLst/>
              <a:ahLst/>
              <a:cxnLst/>
              <a:rect l="l" t="t" r="r" b="b"/>
              <a:pathLst>
                <a:path w="3784973" h="470633">
                  <a:moveTo>
                    <a:pt x="3581773" y="0"/>
                  </a:moveTo>
                  <a:cubicBezTo>
                    <a:pt x="3693997" y="0"/>
                    <a:pt x="3784973" y="105355"/>
                    <a:pt x="3784973" y="235316"/>
                  </a:cubicBezTo>
                  <a:cubicBezTo>
                    <a:pt x="3784973" y="365278"/>
                    <a:pt x="3693997" y="470633"/>
                    <a:pt x="3581773" y="470633"/>
                  </a:cubicBezTo>
                  <a:lnTo>
                    <a:pt x="203200" y="470633"/>
                  </a:lnTo>
                  <a:cubicBezTo>
                    <a:pt x="90976" y="470633"/>
                    <a:pt x="0" y="365278"/>
                    <a:pt x="0" y="235316"/>
                  </a:cubicBezTo>
                  <a:cubicBezTo>
                    <a:pt x="0" y="105355"/>
                    <a:pt x="90976" y="0"/>
                    <a:pt x="203200" y="0"/>
                  </a:cubicBezTo>
                  <a:close/>
                </a:path>
              </a:pathLst>
            </a:custGeom>
            <a:solidFill>
              <a:srgbClr val="0345E4"/>
            </a:solidFill>
          </p:spPr>
        </p:sp>
        <p:sp>
          <p:nvSpPr>
            <p:cNvPr id="5" name="TextBox 5"/>
            <p:cNvSpPr txBox="1"/>
            <p:nvPr/>
          </p:nvSpPr>
          <p:spPr>
            <a:xfrm>
              <a:off x="0" y="-47625"/>
              <a:ext cx="3784973" cy="518258"/>
            </a:xfrm>
            <a:prstGeom prst="rect">
              <a:avLst/>
            </a:prstGeom>
          </p:spPr>
          <p:txBody>
            <a:bodyPr lIns="50800" tIns="50800" rIns="50800" bIns="50800" rtlCol="0" anchor="ctr"/>
            <a:lstStyle/>
            <a:p>
              <a:pPr algn="ctr">
                <a:lnSpc>
                  <a:spcPts val="4479"/>
                </a:lnSpc>
              </a:pPr>
              <a:r>
                <a:rPr lang="en-US" sz="3199" b="1">
                  <a:solidFill>
                    <a:srgbClr val="FFFFFF"/>
                  </a:solidFill>
                  <a:latin typeface="Garet Bold"/>
                  <a:ea typeface="Garet Bold"/>
                  <a:cs typeface="Garet Bold"/>
                  <a:sym typeface="Garet Bold"/>
                </a:rPr>
                <a:t>Handling Missing Values</a:t>
              </a:r>
            </a:p>
          </p:txBody>
        </p:sp>
      </p:grpSp>
      <p:grpSp>
        <p:nvGrpSpPr>
          <p:cNvPr id="6" name="Group 6"/>
          <p:cNvGrpSpPr/>
          <p:nvPr/>
        </p:nvGrpSpPr>
        <p:grpSpPr>
          <a:xfrm>
            <a:off x="1331478" y="6083133"/>
            <a:ext cx="5407691" cy="739774"/>
            <a:chOff x="0" y="0"/>
            <a:chExt cx="3440291" cy="470633"/>
          </a:xfrm>
        </p:grpSpPr>
        <p:sp>
          <p:nvSpPr>
            <p:cNvPr id="7" name="Freeform 7"/>
            <p:cNvSpPr/>
            <p:nvPr/>
          </p:nvSpPr>
          <p:spPr>
            <a:xfrm>
              <a:off x="0" y="0"/>
              <a:ext cx="3440291" cy="470633"/>
            </a:xfrm>
            <a:custGeom>
              <a:avLst/>
              <a:gdLst/>
              <a:ahLst/>
              <a:cxnLst/>
              <a:rect l="l" t="t" r="r" b="b"/>
              <a:pathLst>
                <a:path w="3440291" h="470633">
                  <a:moveTo>
                    <a:pt x="3237091" y="0"/>
                  </a:moveTo>
                  <a:cubicBezTo>
                    <a:pt x="3349315" y="0"/>
                    <a:pt x="3440291" y="105355"/>
                    <a:pt x="3440291" y="235316"/>
                  </a:cubicBezTo>
                  <a:cubicBezTo>
                    <a:pt x="3440291" y="365278"/>
                    <a:pt x="3349315" y="470633"/>
                    <a:pt x="3237091" y="470633"/>
                  </a:cubicBezTo>
                  <a:lnTo>
                    <a:pt x="203200" y="470633"/>
                  </a:lnTo>
                  <a:cubicBezTo>
                    <a:pt x="90976" y="470633"/>
                    <a:pt x="0" y="365278"/>
                    <a:pt x="0" y="235316"/>
                  </a:cubicBezTo>
                  <a:cubicBezTo>
                    <a:pt x="0" y="105355"/>
                    <a:pt x="90976" y="0"/>
                    <a:pt x="203200" y="0"/>
                  </a:cubicBezTo>
                  <a:close/>
                </a:path>
              </a:pathLst>
            </a:custGeom>
            <a:solidFill>
              <a:srgbClr val="000000"/>
            </a:solidFill>
          </p:spPr>
        </p:sp>
        <p:sp>
          <p:nvSpPr>
            <p:cNvPr id="8" name="TextBox 8"/>
            <p:cNvSpPr txBox="1"/>
            <p:nvPr/>
          </p:nvSpPr>
          <p:spPr>
            <a:xfrm>
              <a:off x="0" y="-47625"/>
              <a:ext cx="3440291" cy="518258"/>
            </a:xfrm>
            <a:prstGeom prst="rect">
              <a:avLst/>
            </a:prstGeom>
          </p:spPr>
          <p:txBody>
            <a:bodyPr lIns="50800" tIns="50800" rIns="50800" bIns="50800" rtlCol="0" anchor="ctr"/>
            <a:lstStyle/>
            <a:p>
              <a:pPr algn="ctr">
                <a:lnSpc>
                  <a:spcPts val="4479"/>
                </a:lnSpc>
              </a:pPr>
              <a:r>
                <a:rPr lang="en-US" sz="3199" b="1">
                  <a:solidFill>
                    <a:srgbClr val="FFFFFF"/>
                  </a:solidFill>
                  <a:latin typeface="Garet Bold"/>
                  <a:ea typeface="Garet Bold"/>
                  <a:cs typeface="Garet Bold"/>
                  <a:sym typeface="Garet Bold"/>
                </a:rPr>
                <a:t>Normalisation</a:t>
              </a:r>
            </a:p>
          </p:txBody>
        </p:sp>
      </p:grpSp>
      <p:grpSp>
        <p:nvGrpSpPr>
          <p:cNvPr id="9" name="Group 9"/>
          <p:cNvGrpSpPr/>
          <p:nvPr/>
        </p:nvGrpSpPr>
        <p:grpSpPr>
          <a:xfrm>
            <a:off x="10417193" y="1679083"/>
            <a:ext cx="7498494" cy="1301749"/>
            <a:chOff x="0" y="0"/>
            <a:chExt cx="4770429" cy="828153"/>
          </a:xfrm>
        </p:grpSpPr>
        <p:sp>
          <p:nvSpPr>
            <p:cNvPr id="10" name="Freeform 10"/>
            <p:cNvSpPr/>
            <p:nvPr/>
          </p:nvSpPr>
          <p:spPr>
            <a:xfrm>
              <a:off x="0" y="0"/>
              <a:ext cx="4770429" cy="828153"/>
            </a:xfrm>
            <a:custGeom>
              <a:avLst/>
              <a:gdLst/>
              <a:ahLst/>
              <a:cxnLst/>
              <a:rect l="l" t="t" r="r" b="b"/>
              <a:pathLst>
                <a:path w="4770429" h="828153">
                  <a:moveTo>
                    <a:pt x="4567229" y="0"/>
                  </a:moveTo>
                  <a:cubicBezTo>
                    <a:pt x="4679453" y="0"/>
                    <a:pt x="4770429" y="185388"/>
                    <a:pt x="4770429" y="414076"/>
                  </a:cubicBezTo>
                  <a:cubicBezTo>
                    <a:pt x="4770429" y="642765"/>
                    <a:pt x="4679453" y="828153"/>
                    <a:pt x="4567229" y="828153"/>
                  </a:cubicBezTo>
                  <a:lnTo>
                    <a:pt x="203200" y="828153"/>
                  </a:lnTo>
                  <a:cubicBezTo>
                    <a:pt x="90976" y="828153"/>
                    <a:pt x="0" y="642765"/>
                    <a:pt x="0" y="414076"/>
                  </a:cubicBezTo>
                  <a:cubicBezTo>
                    <a:pt x="0" y="185388"/>
                    <a:pt x="90976" y="0"/>
                    <a:pt x="203200" y="0"/>
                  </a:cubicBezTo>
                  <a:close/>
                </a:path>
              </a:pathLst>
            </a:custGeom>
            <a:solidFill>
              <a:srgbClr val="000000"/>
            </a:solidFill>
          </p:spPr>
        </p:sp>
        <p:sp>
          <p:nvSpPr>
            <p:cNvPr id="11" name="TextBox 11"/>
            <p:cNvSpPr txBox="1"/>
            <p:nvPr/>
          </p:nvSpPr>
          <p:spPr>
            <a:xfrm>
              <a:off x="0" y="-47625"/>
              <a:ext cx="4770429" cy="875778"/>
            </a:xfrm>
            <a:prstGeom prst="rect">
              <a:avLst/>
            </a:prstGeom>
          </p:spPr>
          <p:txBody>
            <a:bodyPr lIns="50800" tIns="50800" rIns="50800" bIns="50800" rtlCol="0" anchor="ctr"/>
            <a:lstStyle/>
            <a:p>
              <a:pPr algn="ctr">
                <a:lnSpc>
                  <a:spcPts val="4479"/>
                </a:lnSpc>
              </a:pPr>
              <a:r>
                <a:rPr lang="en-US" sz="3199" b="1">
                  <a:solidFill>
                    <a:srgbClr val="FFFFFF"/>
                  </a:solidFill>
                  <a:latin typeface="Garet Bold"/>
                  <a:ea typeface="Garet Bold"/>
                  <a:cs typeface="Garet Bold"/>
                  <a:sym typeface="Garet Bold"/>
                </a:rPr>
                <a:t>Feature Selection and Feature Generation</a:t>
              </a:r>
            </a:p>
          </p:txBody>
        </p:sp>
      </p:grpSp>
      <p:sp>
        <p:nvSpPr>
          <p:cNvPr id="12" name="TextBox 12"/>
          <p:cNvSpPr txBox="1"/>
          <p:nvPr/>
        </p:nvSpPr>
        <p:spPr>
          <a:xfrm>
            <a:off x="512964" y="373134"/>
            <a:ext cx="10769833" cy="854076"/>
          </a:xfrm>
          <a:prstGeom prst="rect">
            <a:avLst/>
          </a:prstGeom>
        </p:spPr>
        <p:txBody>
          <a:bodyPr lIns="0" tIns="0" rIns="0" bIns="0" rtlCol="0" anchor="t">
            <a:spAutoFit/>
          </a:bodyPr>
          <a:lstStyle/>
          <a:p>
            <a:pPr algn="l">
              <a:lnSpc>
                <a:spcPts val="6999"/>
              </a:lnSpc>
            </a:pPr>
            <a:r>
              <a:rPr lang="en-US" sz="4999" b="1" spc="99">
                <a:solidFill>
                  <a:srgbClr val="0345E4"/>
                </a:solidFill>
                <a:latin typeface="Garet Bold"/>
                <a:ea typeface="Garet Bold"/>
                <a:cs typeface="Garet Bold"/>
                <a:sym typeface="Garet Bold"/>
              </a:rPr>
              <a:t>DATA PREPROCESSING</a:t>
            </a:r>
          </a:p>
        </p:txBody>
      </p:sp>
      <p:grpSp>
        <p:nvGrpSpPr>
          <p:cNvPr id="13" name="Group 13"/>
          <p:cNvGrpSpPr/>
          <p:nvPr/>
        </p:nvGrpSpPr>
        <p:grpSpPr>
          <a:xfrm>
            <a:off x="620953" y="1614430"/>
            <a:ext cx="954948" cy="95494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9199957" y="1679083"/>
            <a:ext cx="1119910" cy="1119910"/>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12964" y="6004392"/>
            <a:ext cx="818515" cy="81851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512964" y="6746706"/>
            <a:ext cx="7184594" cy="3112770"/>
          </a:xfrm>
          <a:prstGeom prst="rect">
            <a:avLst/>
          </a:prstGeom>
        </p:spPr>
        <p:txBody>
          <a:bodyPr lIns="0" tIns="0" rIns="0" bIns="0" rtlCol="0" anchor="t">
            <a:spAutoFit/>
          </a:bodyPr>
          <a:lstStyle/>
          <a:p>
            <a:pPr algn="just">
              <a:lnSpc>
                <a:spcPts val="4199"/>
              </a:lnSpc>
            </a:pPr>
            <a:endParaRPr/>
          </a:p>
          <a:p>
            <a:pPr marL="0" lvl="0" indent="0" algn="just">
              <a:lnSpc>
                <a:spcPts val="4199"/>
              </a:lnSpc>
            </a:pPr>
            <a:r>
              <a:rPr lang="en-US" sz="2799">
                <a:solidFill>
                  <a:srgbClr val="000000"/>
                </a:solidFill>
                <a:latin typeface="Open Sans"/>
                <a:ea typeface="Open Sans"/>
                <a:cs typeface="Open Sans"/>
                <a:sym typeface="Open Sans"/>
              </a:rPr>
              <a:t>Features were scaled using standardization to keep values comparable, stabilize training, speed convergence, and improve model accuracy.</a:t>
            </a:r>
          </a:p>
          <a:p>
            <a:pPr marL="0" lvl="0" indent="0" algn="just">
              <a:lnSpc>
                <a:spcPts val="4199"/>
              </a:lnSpc>
            </a:pPr>
            <a:endParaRPr lang="en-US" sz="2799">
              <a:solidFill>
                <a:srgbClr val="000000"/>
              </a:solidFill>
              <a:latin typeface="Open Sans"/>
              <a:ea typeface="Open Sans"/>
              <a:cs typeface="Open Sans"/>
              <a:sym typeface="Open Sans"/>
            </a:endParaRPr>
          </a:p>
        </p:txBody>
      </p:sp>
      <p:sp>
        <p:nvSpPr>
          <p:cNvPr id="23" name="TextBox 23"/>
          <p:cNvSpPr txBox="1"/>
          <p:nvPr/>
        </p:nvSpPr>
        <p:spPr>
          <a:xfrm>
            <a:off x="9144000" y="3003740"/>
            <a:ext cx="8771687" cy="6238875"/>
          </a:xfrm>
          <a:prstGeom prst="rect">
            <a:avLst/>
          </a:prstGeom>
        </p:spPr>
        <p:txBody>
          <a:bodyPr lIns="0" tIns="0" rIns="0" bIns="0" rtlCol="0" anchor="t">
            <a:spAutoFit/>
          </a:bodyPr>
          <a:lstStyle/>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Removed unnecessary columns like stock ticker names and empty fields.</a:t>
            </a:r>
          </a:p>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Computed the following indicators for each stock:</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Returns and Log Returns</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Moving Averages (MA5, MA10), Exponential MA (EMA10)</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Volatility (Standard Deviation over 5 days)</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RSI (Relative Strength Index)</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MACD and Signal Line</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Momentum and Volume</a:t>
            </a:r>
          </a:p>
          <a:p>
            <a:pPr marL="0" lvl="0" indent="0" algn="just">
              <a:lnSpc>
                <a:spcPts val="4049"/>
              </a:lnSpc>
            </a:pPr>
            <a:endParaRPr lang="en-US" sz="2799">
              <a:solidFill>
                <a:srgbClr val="000000"/>
              </a:solidFill>
              <a:latin typeface="Open Sans"/>
              <a:ea typeface="Open Sans"/>
              <a:cs typeface="Open Sans"/>
              <a:sym typeface="Open Sans"/>
            </a:endParaRPr>
          </a:p>
        </p:txBody>
      </p:sp>
      <p:sp>
        <p:nvSpPr>
          <p:cNvPr id="24" name="TextBox 24"/>
          <p:cNvSpPr txBox="1"/>
          <p:nvPr/>
        </p:nvSpPr>
        <p:spPr>
          <a:xfrm>
            <a:off x="620953" y="2896533"/>
            <a:ext cx="7484352" cy="2588895"/>
          </a:xfrm>
          <a:prstGeom prst="rect">
            <a:avLst/>
          </a:prstGeom>
        </p:spPr>
        <p:txBody>
          <a:bodyPr lIns="0" tIns="0" rIns="0" bIns="0" rtlCol="0" anchor="t">
            <a:spAutoFit/>
          </a:bodyPr>
          <a:lstStyle/>
          <a:p>
            <a:pPr marL="0" lvl="0" indent="0" algn="just">
              <a:lnSpc>
                <a:spcPts val="4199"/>
              </a:lnSpc>
            </a:pPr>
            <a:r>
              <a:rPr lang="en-US" sz="2799">
                <a:solidFill>
                  <a:srgbClr val="000000"/>
                </a:solidFill>
                <a:latin typeface="Open Sans"/>
                <a:ea typeface="Open Sans"/>
                <a:cs typeface="Open Sans"/>
                <a:sym typeface="Open Sans"/>
              </a:rPr>
              <a:t>Missing entries in stock prices and indicators were identified, then either removed or filled using forward/backward fill to maintain data consistency, avoid bias, and ensure the model learns from complete, reliable inputs.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 b="-8888"/>
            </a:stretch>
          </a:blipFill>
        </p:spPr>
      </p:sp>
      <p:grpSp>
        <p:nvGrpSpPr>
          <p:cNvPr id="3" name="Group 3"/>
          <p:cNvGrpSpPr/>
          <p:nvPr/>
        </p:nvGrpSpPr>
        <p:grpSpPr>
          <a:xfrm>
            <a:off x="755020" y="7356528"/>
            <a:ext cx="2350854" cy="235085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FFFFFF">
                  <a:alpha val="19608"/>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278590" y="1503152"/>
            <a:ext cx="4716450" cy="1947175"/>
          </a:xfrm>
          <a:custGeom>
            <a:avLst/>
            <a:gdLst/>
            <a:ahLst/>
            <a:cxnLst/>
            <a:rect l="l" t="t" r="r" b="b"/>
            <a:pathLst>
              <a:path w="4716450" h="1947175">
                <a:moveTo>
                  <a:pt x="0" y="0"/>
                </a:moveTo>
                <a:lnTo>
                  <a:pt x="4716450" y="0"/>
                </a:lnTo>
                <a:lnTo>
                  <a:pt x="4716450" y="1947174"/>
                </a:lnTo>
                <a:lnTo>
                  <a:pt x="0" y="19471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5636635" y="1503152"/>
            <a:ext cx="4716450" cy="1947175"/>
          </a:xfrm>
          <a:custGeom>
            <a:avLst/>
            <a:gdLst/>
            <a:ahLst/>
            <a:cxnLst/>
            <a:rect l="l" t="t" r="r" b="b"/>
            <a:pathLst>
              <a:path w="4716450" h="1947175">
                <a:moveTo>
                  <a:pt x="0" y="0"/>
                </a:moveTo>
                <a:lnTo>
                  <a:pt x="4716450" y="0"/>
                </a:lnTo>
                <a:lnTo>
                  <a:pt x="4716450" y="1947174"/>
                </a:lnTo>
                <a:lnTo>
                  <a:pt x="0" y="19471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1218250" y="1503152"/>
            <a:ext cx="4716450" cy="1947175"/>
          </a:xfrm>
          <a:custGeom>
            <a:avLst/>
            <a:gdLst/>
            <a:ahLst/>
            <a:cxnLst/>
            <a:rect l="l" t="t" r="r" b="b"/>
            <a:pathLst>
              <a:path w="4716450" h="1947175">
                <a:moveTo>
                  <a:pt x="0" y="0"/>
                </a:moveTo>
                <a:lnTo>
                  <a:pt x="4716450" y="0"/>
                </a:lnTo>
                <a:lnTo>
                  <a:pt x="4716450" y="1947174"/>
                </a:lnTo>
                <a:lnTo>
                  <a:pt x="0" y="19471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9506951" y="4542658"/>
            <a:ext cx="6833753" cy="2821298"/>
          </a:xfrm>
          <a:custGeom>
            <a:avLst/>
            <a:gdLst/>
            <a:ahLst/>
            <a:cxnLst/>
            <a:rect l="l" t="t" r="r" b="b"/>
            <a:pathLst>
              <a:path w="6833753" h="2821298">
                <a:moveTo>
                  <a:pt x="0" y="0"/>
                </a:moveTo>
                <a:lnTo>
                  <a:pt x="6833752" y="0"/>
                </a:lnTo>
                <a:lnTo>
                  <a:pt x="6833752" y="2821298"/>
                </a:lnTo>
                <a:lnTo>
                  <a:pt x="0" y="28212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961581" y="4368404"/>
            <a:ext cx="6714647" cy="2772125"/>
          </a:xfrm>
          <a:custGeom>
            <a:avLst/>
            <a:gdLst/>
            <a:ahLst/>
            <a:cxnLst/>
            <a:rect l="l" t="t" r="r" b="b"/>
            <a:pathLst>
              <a:path w="6714647" h="2772125">
                <a:moveTo>
                  <a:pt x="0" y="0"/>
                </a:moveTo>
                <a:lnTo>
                  <a:pt x="6714647" y="0"/>
                </a:lnTo>
                <a:lnTo>
                  <a:pt x="6714647" y="2772125"/>
                </a:lnTo>
                <a:lnTo>
                  <a:pt x="0" y="27721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0948521" y="7915515"/>
            <a:ext cx="4716450" cy="1947175"/>
          </a:xfrm>
          <a:custGeom>
            <a:avLst/>
            <a:gdLst/>
            <a:ahLst/>
            <a:cxnLst/>
            <a:rect l="l" t="t" r="r" b="b"/>
            <a:pathLst>
              <a:path w="4716450" h="1947175">
                <a:moveTo>
                  <a:pt x="0" y="0"/>
                </a:moveTo>
                <a:lnTo>
                  <a:pt x="4716450" y="0"/>
                </a:lnTo>
                <a:lnTo>
                  <a:pt x="4716450" y="1947174"/>
                </a:lnTo>
                <a:lnTo>
                  <a:pt x="0" y="19471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930447" y="7915515"/>
            <a:ext cx="4716450" cy="1947175"/>
          </a:xfrm>
          <a:custGeom>
            <a:avLst/>
            <a:gdLst/>
            <a:ahLst/>
            <a:cxnLst/>
            <a:rect l="l" t="t" r="r" b="b"/>
            <a:pathLst>
              <a:path w="4716450" h="1947175">
                <a:moveTo>
                  <a:pt x="0" y="0"/>
                </a:moveTo>
                <a:lnTo>
                  <a:pt x="4716450" y="0"/>
                </a:lnTo>
                <a:lnTo>
                  <a:pt x="4716450" y="1947174"/>
                </a:lnTo>
                <a:lnTo>
                  <a:pt x="0" y="19471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rot="-69482">
            <a:off x="7867155" y="5356714"/>
            <a:ext cx="1448868" cy="1193186"/>
            <a:chOff x="0" y="0"/>
            <a:chExt cx="647700" cy="533400"/>
          </a:xfrm>
        </p:grpSpPr>
        <p:sp>
          <p:nvSpPr>
            <p:cNvPr id="14" name="Freeform 14"/>
            <p:cNvSpPr/>
            <p:nvPr/>
          </p:nvSpPr>
          <p:spPr>
            <a:xfrm>
              <a:off x="0" y="0"/>
              <a:ext cx="647700" cy="533400"/>
            </a:xfrm>
            <a:custGeom>
              <a:avLst/>
              <a:gdLst/>
              <a:ahLst/>
              <a:cxnLst/>
              <a:rect l="l" t="t" r="r" b="b"/>
              <a:pathLst>
                <a:path w="647700" h="5334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F6F6F6"/>
            </a:solidFill>
          </p:spPr>
        </p:sp>
        <p:sp>
          <p:nvSpPr>
            <p:cNvPr id="15" name="TextBox 15"/>
            <p:cNvSpPr txBox="1"/>
            <p:nvPr/>
          </p:nvSpPr>
          <p:spPr>
            <a:xfrm>
              <a:off x="120650" y="127000"/>
              <a:ext cx="527050" cy="2413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7392697" y="8395510"/>
            <a:ext cx="2789986" cy="987183"/>
            <a:chOff x="0" y="0"/>
            <a:chExt cx="2297143" cy="812800"/>
          </a:xfrm>
        </p:grpSpPr>
        <p:sp>
          <p:nvSpPr>
            <p:cNvPr id="17" name="Freeform 17"/>
            <p:cNvSpPr/>
            <p:nvPr/>
          </p:nvSpPr>
          <p:spPr>
            <a:xfrm>
              <a:off x="0" y="0"/>
              <a:ext cx="2297143" cy="812800"/>
            </a:xfrm>
            <a:custGeom>
              <a:avLst/>
              <a:gdLst/>
              <a:ahLst/>
              <a:cxnLst/>
              <a:rect l="l" t="t" r="r" b="b"/>
              <a:pathLst>
                <a:path w="2297143" h="812800">
                  <a:moveTo>
                    <a:pt x="2297143" y="406400"/>
                  </a:moveTo>
                  <a:lnTo>
                    <a:pt x="1890743" y="0"/>
                  </a:lnTo>
                  <a:lnTo>
                    <a:pt x="1890743" y="203200"/>
                  </a:lnTo>
                  <a:lnTo>
                    <a:pt x="0" y="203200"/>
                  </a:lnTo>
                  <a:lnTo>
                    <a:pt x="0" y="609600"/>
                  </a:lnTo>
                  <a:lnTo>
                    <a:pt x="1890743" y="609600"/>
                  </a:lnTo>
                  <a:lnTo>
                    <a:pt x="1890743" y="812800"/>
                  </a:lnTo>
                  <a:lnTo>
                    <a:pt x="2297143" y="406400"/>
                  </a:lnTo>
                  <a:close/>
                </a:path>
              </a:pathLst>
            </a:custGeom>
            <a:solidFill>
              <a:srgbClr val="F6F6F6"/>
            </a:solidFill>
          </p:spPr>
        </p:sp>
        <p:sp>
          <p:nvSpPr>
            <p:cNvPr id="18" name="TextBox 18"/>
            <p:cNvSpPr txBox="1"/>
            <p:nvPr/>
          </p:nvSpPr>
          <p:spPr>
            <a:xfrm>
              <a:off x="0" y="165100"/>
              <a:ext cx="2195543" cy="444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4001405" y="7236382"/>
            <a:ext cx="635000" cy="635000"/>
            <a:chOff x="0" y="0"/>
            <a:chExt cx="812800" cy="812800"/>
          </a:xfrm>
        </p:grpSpPr>
        <p:sp>
          <p:nvSpPr>
            <p:cNvPr id="20" name="Freeform 20"/>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6F6F6"/>
            </a:solidFill>
          </p:spPr>
        </p:sp>
        <p:sp>
          <p:nvSpPr>
            <p:cNvPr id="21" name="TextBox 21"/>
            <p:cNvSpPr txBox="1"/>
            <p:nvPr/>
          </p:nvSpPr>
          <p:spPr>
            <a:xfrm>
              <a:off x="203200" y="-38100"/>
              <a:ext cx="406400" cy="7493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5075571" y="2255334"/>
            <a:ext cx="561064" cy="561064"/>
            <a:chOff x="0" y="0"/>
            <a:chExt cx="812800" cy="812800"/>
          </a:xfrm>
        </p:grpSpPr>
        <p:sp>
          <p:nvSpPr>
            <p:cNvPr id="23" name="Freeform 23"/>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FFFFF"/>
            </a:solidFill>
          </p:spPr>
        </p:sp>
        <p:sp>
          <p:nvSpPr>
            <p:cNvPr id="24" name="TextBox 24"/>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11218250" y="2076964"/>
            <a:ext cx="4716450" cy="1243965"/>
          </a:xfrm>
          <a:prstGeom prst="rect">
            <a:avLst/>
          </a:prstGeom>
        </p:spPr>
        <p:txBody>
          <a:bodyPr lIns="0" tIns="0" rIns="0" bIns="0" rtlCol="0" anchor="t">
            <a:spAutoFit/>
          </a:bodyPr>
          <a:lstStyle/>
          <a:p>
            <a:pPr algn="ctr">
              <a:lnSpc>
                <a:spcPts val="3359"/>
              </a:lnSpc>
            </a:pPr>
            <a:r>
              <a:rPr lang="en-US" sz="2399">
                <a:solidFill>
                  <a:srgbClr val="000000"/>
                </a:solidFill>
                <a:latin typeface="Inter"/>
                <a:ea typeface="Inter"/>
                <a:cs typeface="Inter"/>
                <a:sym typeface="Inter"/>
              </a:rPr>
              <a:t>Train: 2015-2020</a:t>
            </a:r>
          </a:p>
          <a:p>
            <a:pPr algn="ctr">
              <a:lnSpc>
                <a:spcPts val="3359"/>
              </a:lnSpc>
            </a:pPr>
            <a:r>
              <a:rPr lang="en-US" sz="2399">
                <a:solidFill>
                  <a:srgbClr val="000000"/>
                </a:solidFill>
                <a:latin typeface="Inter"/>
                <a:ea typeface="Inter"/>
                <a:cs typeface="Inter"/>
                <a:sym typeface="Inter"/>
              </a:rPr>
              <a:t>Val: 2021-2022 </a:t>
            </a:r>
          </a:p>
          <a:p>
            <a:pPr algn="ctr">
              <a:lnSpc>
                <a:spcPts val="3359"/>
              </a:lnSpc>
              <a:spcBef>
                <a:spcPct val="0"/>
              </a:spcBef>
            </a:pPr>
            <a:r>
              <a:rPr lang="en-US" sz="2399">
                <a:solidFill>
                  <a:srgbClr val="000000"/>
                </a:solidFill>
                <a:latin typeface="Inter"/>
                <a:ea typeface="Inter"/>
                <a:cs typeface="Inter"/>
                <a:sym typeface="Inter"/>
              </a:rPr>
              <a:t>Test: 2023 and 2024</a:t>
            </a:r>
          </a:p>
        </p:txBody>
      </p:sp>
      <p:grpSp>
        <p:nvGrpSpPr>
          <p:cNvPr id="26" name="Group 26"/>
          <p:cNvGrpSpPr/>
          <p:nvPr/>
        </p:nvGrpSpPr>
        <p:grpSpPr>
          <a:xfrm>
            <a:off x="10535763" y="2279392"/>
            <a:ext cx="682487" cy="682487"/>
            <a:chOff x="0" y="0"/>
            <a:chExt cx="812800" cy="812800"/>
          </a:xfrm>
        </p:grpSpPr>
        <p:sp>
          <p:nvSpPr>
            <p:cNvPr id="27" name="Freeform 2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FFFFF"/>
            </a:solidFill>
          </p:spPr>
        </p:sp>
        <p:sp>
          <p:nvSpPr>
            <p:cNvPr id="28" name="TextBox 28"/>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2803426" y="3712084"/>
            <a:ext cx="773049" cy="773049"/>
            <a:chOff x="0" y="0"/>
            <a:chExt cx="812800" cy="812800"/>
          </a:xfrm>
        </p:grpSpPr>
        <p:sp>
          <p:nvSpPr>
            <p:cNvPr id="30" name="Freeform 30"/>
            <p:cNvSpPr/>
            <p:nvPr/>
          </p:nvSpPr>
          <p:spPr>
            <a:xfrm>
              <a:off x="0" y="0"/>
              <a:ext cx="812800" cy="812800"/>
            </a:xfrm>
            <a:custGeom>
              <a:avLst/>
              <a:gdLst/>
              <a:ahLst/>
              <a:cxnLst/>
              <a:rect l="l" t="t" r="r" b="b"/>
              <a:pathLst>
                <a:path w="812800" h="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FFFFFF"/>
            </a:solidFill>
          </p:spPr>
        </p:sp>
        <p:sp>
          <p:nvSpPr>
            <p:cNvPr id="31" name="TextBox 31"/>
            <p:cNvSpPr txBox="1"/>
            <p:nvPr/>
          </p:nvSpPr>
          <p:spPr>
            <a:xfrm>
              <a:off x="203200" y="-38100"/>
              <a:ext cx="406400" cy="749300"/>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2765904" y="4356"/>
            <a:ext cx="12756192" cy="1085215"/>
          </a:xfrm>
          <a:prstGeom prst="rect">
            <a:avLst/>
          </a:prstGeom>
        </p:spPr>
        <p:txBody>
          <a:bodyPr lIns="0" tIns="0" rIns="0" bIns="0" rtlCol="0" anchor="t">
            <a:spAutoFit/>
          </a:bodyPr>
          <a:lstStyle/>
          <a:p>
            <a:pPr algn="ctr">
              <a:lnSpc>
                <a:spcPts val="8959"/>
              </a:lnSpc>
            </a:pPr>
            <a:r>
              <a:rPr lang="en-US" sz="6399" b="1">
                <a:solidFill>
                  <a:srgbClr val="FFFFFF"/>
                </a:solidFill>
                <a:latin typeface="Garet Bold"/>
                <a:ea typeface="Garet Bold"/>
                <a:cs typeface="Garet Bold"/>
                <a:sym typeface="Garet Bold"/>
              </a:rPr>
              <a:t>FLOWCHART</a:t>
            </a:r>
          </a:p>
        </p:txBody>
      </p:sp>
      <p:sp>
        <p:nvSpPr>
          <p:cNvPr id="33" name="TextBox 33"/>
          <p:cNvSpPr txBox="1"/>
          <p:nvPr/>
        </p:nvSpPr>
        <p:spPr>
          <a:xfrm>
            <a:off x="278590" y="1497435"/>
            <a:ext cx="4716450"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Inter Bold"/>
                <a:ea typeface="Inter Bold"/>
                <a:cs typeface="Inter Bold"/>
                <a:sym typeface="Inter Bold"/>
              </a:rPr>
              <a:t>Data Sourcing</a:t>
            </a:r>
          </a:p>
        </p:txBody>
      </p:sp>
      <p:sp>
        <p:nvSpPr>
          <p:cNvPr id="34" name="TextBox 34"/>
          <p:cNvSpPr txBox="1"/>
          <p:nvPr/>
        </p:nvSpPr>
        <p:spPr>
          <a:xfrm>
            <a:off x="278590" y="1733927"/>
            <a:ext cx="4716450" cy="1856740"/>
          </a:xfrm>
          <a:prstGeom prst="rect">
            <a:avLst/>
          </a:prstGeom>
        </p:spPr>
        <p:txBody>
          <a:bodyPr lIns="0" tIns="0" rIns="0" bIns="0" rtlCol="0" anchor="t">
            <a:spAutoFit/>
          </a:bodyPr>
          <a:lstStyle/>
          <a:p>
            <a:pPr algn="ctr">
              <a:lnSpc>
                <a:spcPts val="2659"/>
              </a:lnSpc>
            </a:pPr>
            <a:endParaRPr/>
          </a:p>
          <a:p>
            <a:pPr algn="ctr">
              <a:lnSpc>
                <a:spcPts val="3219"/>
              </a:lnSpc>
            </a:pPr>
            <a:r>
              <a:rPr lang="en-US" sz="2299">
                <a:solidFill>
                  <a:srgbClr val="000000"/>
                </a:solidFill>
                <a:latin typeface="Inter"/>
                <a:ea typeface="Inter"/>
                <a:cs typeface="Inter"/>
                <a:sym typeface="Inter"/>
              </a:rPr>
              <a:t>5 Tickers: MSFT, GOOGL, TSLA, META, NFLX</a:t>
            </a:r>
          </a:p>
          <a:p>
            <a:pPr algn="ctr">
              <a:lnSpc>
                <a:spcPts val="3219"/>
              </a:lnSpc>
            </a:pPr>
            <a:r>
              <a:rPr lang="en-US" sz="2299">
                <a:solidFill>
                  <a:srgbClr val="000000"/>
                </a:solidFill>
                <a:latin typeface="Inter"/>
                <a:ea typeface="Inter"/>
                <a:cs typeface="Inter"/>
                <a:sym typeface="Inter"/>
              </a:rPr>
              <a:t>yfinance 2015-2024 OHLCV</a:t>
            </a:r>
          </a:p>
          <a:p>
            <a:pPr algn="ctr">
              <a:lnSpc>
                <a:spcPts val="2659"/>
              </a:lnSpc>
              <a:spcBef>
                <a:spcPct val="0"/>
              </a:spcBef>
            </a:pPr>
            <a:endParaRPr lang="en-US" sz="2299">
              <a:solidFill>
                <a:srgbClr val="000000"/>
              </a:solidFill>
              <a:latin typeface="Inter"/>
              <a:ea typeface="Inter"/>
              <a:cs typeface="Inter"/>
              <a:sym typeface="Inter"/>
            </a:endParaRPr>
          </a:p>
        </p:txBody>
      </p:sp>
      <p:sp>
        <p:nvSpPr>
          <p:cNvPr id="35" name="TextBox 35"/>
          <p:cNvSpPr txBox="1"/>
          <p:nvPr/>
        </p:nvSpPr>
        <p:spPr>
          <a:xfrm>
            <a:off x="5748420" y="1497435"/>
            <a:ext cx="4716450"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Inter Bold"/>
                <a:ea typeface="Inter Bold"/>
                <a:cs typeface="Inter Bold"/>
                <a:sym typeface="Inter Bold"/>
              </a:rPr>
              <a:t>Data Preprocessing</a:t>
            </a:r>
          </a:p>
        </p:txBody>
      </p:sp>
      <p:sp>
        <p:nvSpPr>
          <p:cNvPr id="36" name="TextBox 36"/>
          <p:cNvSpPr txBox="1"/>
          <p:nvPr/>
        </p:nvSpPr>
        <p:spPr>
          <a:xfrm>
            <a:off x="11218250" y="1493261"/>
            <a:ext cx="4716450"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Inter Bold"/>
                <a:ea typeface="Inter Bold"/>
                <a:cs typeface="Inter Bold"/>
                <a:sym typeface="Inter Bold"/>
              </a:rPr>
              <a:t>Data Splitting</a:t>
            </a:r>
          </a:p>
        </p:txBody>
      </p:sp>
      <p:sp>
        <p:nvSpPr>
          <p:cNvPr id="37" name="TextBox 37"/>
          <p:cNvSpPr txBox="1"/>
          <p:nvPr/>
        </p:nvSpPr>
        <p:spPr>
          <a:xfrm>
            <a:off x="5636635" y="1914764"/>
            <a:ext cx="4716450" cy="1863090"/>
          </a:xfrm>
          <a:prstGeom prst="rect">
            <a:avLst/>
          </a:prstGeom>
        </p:spPr>
        <p:txBody>
          <a:bodyPr lIns="0" tIns="0" rIns="0" bIns="0" rtlCol="0" anchor="t">
            <a:spAutoFit/>
          </a:bodyPr>
          <a:lstStyle/>
          <a:p>
            <a:pPr algn="ctr">
              <a:lnSpc>
                <a:spcPts val="2799"/>
              </a:lnSpc>
            </a:pPr>
            <a:r>
              <a:rPr lang="en-US" sz="1999">
                <a:solidFill>
                  <a:srgbClr val="000000"/>
                </a:solidFill>
                <a:latin typeface="Inter"/>
                <a:ea typeface="Inter"/>
                <a:cs typeface="Inter"/>
                <a:sym typeface="Inter"/>
              </a:rPr>
              <a:t>Missing Values Fill</a:t>
            </a:r>
          </a:p>
          <a:p>
            <a:pPr algn="ctr">
              <a:lnSpc>
                <a:spcPts val="2799"/>
              </a:lnSpc>
            </a:pPr>
            <a:r>
              <a:rPr lang="en-US" sz="1999">
                <a:solidFill>
                  <a:srgbClr val="000000"/>
                </a:solidFill>
                <a:latin typeface="Inter"/>
                <a:ea typeface="Inter"/>
                <a:cs typeface="Inter"/>
                <a:sym typeface="Inter"/>
              </a:rPr>
              <a:t>Feature Engineering:</a:t>
            </a:r>
          </a:p>
          <a:p>
            <a:pPr algn="ctr">
              <a:lnSpc>
                <a:spcPts val="2799"/>
              </a:lnSpc>
            </a:pPr>
            <a:r>
              <a:rPr lang="en-US" sz="1999">
                <a:solidFill>
                  <a:srgbClr val="000000"/>
                </a:solidFill>
                <a:latin typeface="Inter"/>
                <a:ea typeface="Inter"/>
                <a:cs typeface="Inter"/>
                <a:sym typeface="Inter"/>
              </a:rPr>
              <a:t>RSI, MACD, MA, BB</a:t>
            </a:r>
          </a:p>
          <a:p>
            <a:pPr algn="ctr">
              <a:lnSpc>
                <a:spcPts val="2799"/>
              </a:lnSpc>
            </a:pPr>
            <a:r>
              <a:rPr lang="en-US" sz="1999">
                <a:solidFill>
                  <a:srgbClr val="000000"/>
                </a:solidFill>
                <a:latin typeface="Inter"/>
                <a:ea typeface="Inter"/>
                <a:cs typeface="Inter"/>
                <a:sym typeface="Inter"/>
              </a:rPr>
              <a:t>StandardScaler per ticker</a:t>
            </a:r>
          </a:p>
          <a:p>
            <a:pPr algn="ctr">
              <a:lnSpc>
                <a:spcPts val="1820"/>
              </a:lnSpc>
            </a:pPr>
            <a:endParaRPr lang="en-US" sz="1999">
              <a:solidFill>
                <a:srgbClr val="000000"/>
              </a:solidFill>
              <a:latin typeface="Inter"/>
              <a:ea typeface="Inter"/>
              <a:cs typeface="Inter"/>
              <a:sym typeface="Inter"/>
            </a:endParaRPr>
          </a:p>
          <a:p>
            <a:pPr algn="ctr">
              <a:lnSpc>
                <a:spcPts val="1820"/>
              </a:lnSpc>
              <a:spcBef>
                <a:spcPct val="0"/>
              </a:spcBef>
            </a:pPr>
            <a:endParaRPr lang="en-US" sz="1999">
              <a:solidFill>
                <a:srgbClr val="000000"/>
              </a:solidFill>
              <a:latin typeface="Inter"/>
              <a:ea typeface="Inter"/>
              <a:cs typeface="Inter"/>
              <a:sym typeface="Inter"/>
            </a:endParaRPr>
          </a:p>
        </p:txBody>
      </p:sp>
      <p:sp>
        <p:nvSpPr>
          <p:cNvPr id="38" name="TextBox 38"/>
          <p:cNvSpPr txBox="1"/>
          <p:nvPr/>
        </p:nvSpPr>
        <p:spPr>
          <a:xfrm>
            <a:off x="1930447" y="4301729"/>
            <a:ext cx="4716450"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Inter Bold"/>
                <a:ea typeface="Inter Bold"/>
                <a:cs typeface="Inter Bold"/>
                <a:sym typeface="Inter Bold"/>
              </a:rPr>
              <a:t>PPO Setup &amp; Training</a:t>
            </a:r>
          </a:p>
        </p:txBody>
      </p:sp>
      <p:sp>
        <p:nvSpPr>
          <p:cNvPr id="39" name="TextBox 39"/>
          <p:cNvSpPr txBox="1"/>
          <p:nvPr/>
        </p:nvSpPr>
        <p:spPr>
          <a:xfrm>
            <a:off x="10182683" y="4475983"/>
            <a:ext cx="5482288"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Inter Bold"/>
                <a:ea typeface="Inter Bold"/>
                <a:cs typeface="Inter Bold"/>
                <a:sym typeface="Inter Bold"/>
              </a:rPr>
              <a:t>DQN Setup &amp; Training</a:t>
            </a:r>
          </a:p>
        </p:txBody>
      </p:sp>
      <p:sp>
        <p:nvSpPr>
          <p:cNvPr id="40" name="TextBox 40"/>
          <p:cNvSpPr txBox="1"/>
          <p:nvPr/>
        </p:nvSpPr>
        <p:spPr>
          <a:xfrm>
            <a:off x="1930447" y="4802016"/>
            <a:ext cx="4716450" cy="2506980"/>
          </a:xfrm>
          <a:prstGeom prst="rect">
            <a:avLst/>
          </a:prstGeom>
        </p:spPr>
        <p:txBody>
          <a:bodyPr lIns="0" tIns="0" rIns="0" bIns="0" rtlCol="0" anchor="t">
            <a:spAutoFit/>
          </a:bodyPr>
          <a:lstStyle/>
          <a:p>
            <a:pPr algn="ctr">
              <a:lnSpc>
                <a:spcPts val="2520"/>
              </a:lnSpc>
            </a:pPr>
            <a:r>
              <a:rPr lang="en-US" sz="1800">
                <a:solidFill>
                  <a:srgbClr val="000000"/>
                </a:solidFill>
                <a:latin typeface="Inter"/>
                <a:ea typeface="Inter"/>
                <a:cs typeface="Inter"/>
                <a:sym typeface="Inter"/>
              </a:rPr>
              <a:t>Policy Actor + Value Critic</a:t>
            </a:r>
          </a:p>
          <a:p>
            <a:pPr algn="ctr">
              <a:lnSpc>
                <a:spcPts val="2520"/>
              </a:lnSpc>
            </a:pPr>
            <a:r>
              <a:rPr lang="en-US" sz="1800">
                <a:solidFill>
                  <a:srgbClr val="000000"/>
                </a:solidFill>
                <a:latin typeface="Inter"/>
                <a:ea typeface="Inter"/>
                <a:cs typeface="Inter"/>
                <a:sym typeface="Inter"/>
              </a:rPr>
              <a:t>Rollout: 4096 steps,</a:t>
            </a:r>
          </a:p>
          <a:p>
            <a:pPr algn="ctr">
              <a:lnSpc>
                <a:spcPts val="2520"/>
              </a:lnSpc>
            </a:pPr>
            <a:r>
              <a:rPr lang="en-US" sz="1800">
                <a:solidFill>
                  <a:srgbClr val="000000"/>
                </a:solidFill>
                <a:latin typeface="Inter"/>
                <a:ea typeface="Inter"/>
                <a:cs typeface="Inter"/>
                <a:sym typeface="Inter"/>
              </a:rPr>
              <a:t>Horizon: 128</a:t>
            </a:r>
          </a:p>
          <a:p>
            <a:pPr algn="ctr">
              <a:lnSpc>
                <a:spcPts val="2520"/>
              </a:lnSpc>
            </a:pPr>
            <a:r>
              <a:rPr lang="en-US" sz="1800">
                <a:solidFill>
                  <a:srgbClr val="000000"/>
                </a:solidFill>
                <a:latin typeface="Inter"/>
                <a:ea typeface="Inter"/>
                <a:cs typeface="Inter"/>
                <a:sym typeface="Inter"/>
              </a:rPr>
              <a:t>Multi-stock sampling</a:t>
            </a:r>
          </a:p>
          <a:p>
            <a:pPr algn="ctr">
              <a:lnSpc>
                <a:spcPts val="2520"/>
              </a:lnSpc>
            </a:pPr>
            <a:r>
              <a:rPr lang="en-US" sz="1800">
                <a:solidFill>
                  <a:srgbClr val="000000"/>
                </a:solidFill>
                <a:latin typeface="Inter"/>
                <a:ea typeface="Inter"/>
                <a:cs typeface="Inter"/>
                <a:sym typeface="Inter"/>
              </a:rPr>
              <a:t>GAE: λ=0.95, γ=0.99</a:t>
            </a:r>
          </a:p>
          <a:p>
            <a:pPr algn="ctr">
              <a:lnSpc>
                <a:spcPts val="2520"/>
              </a:lnSpc>
            </a:pPr>
            <a:r>
              <a:rPr lang="en-US" sz="1800">
                <a:solidFill>
                  <a:srgbClr val="000000"/>
                </a:solidFill>
                <a:latin typeface="Inter"/>
                <a:ea typeface="Inter"/>
                <a:cs typeface="Inter"/>
                <a:sym typeface="Inter"/>
              </a:rPr>
              <a:t>300K steps, 4 Epochs</a:t>
            </a:r>
          </a:p>
          <a:p>
            <a:pPr algn="ctr">
              <a:lnSpc>
                <a:spcPts val="2520"/>
              </a:lnSpc>
            </a:pPr>
            <a:r>
              <a:rPr lang="en-US" sz="1800">
                <a:solidFill>
                  <a:srgbClr val="000000"/>
                </a:solidFill>
                <a:latin typeface="Inter"/>
                <a:ea typeface="Inter"/>
                <a:cs typeface="Inter"/>
                <a:sym typeface="Inter"/>
              </a:rPr>
              <a:t>Clipped Loss, Batch: 64</a:t>
            </a:r>
          </a:p>
          <a:p>
            <a:pPr algn="ctr">
              <a:lnSpc>
                <a:spcPts val="2520"/>
              </a:lnSpc>
              <a:spcBef>
                <a:spcPct val="0"/>
              </a:spcBef>
            </a:pPr>
            <a:endParaRPr lang="en-US" sz="1800">
              <a:solidFill>
                <a:srgbClr val="000000"/>
              </a:solidFill>
              <a:latin typeface="Inter"/>
              <a:ea typeface="Inter"/>
              <a:cs typeface="Inter"/>
              <a:sym typeface="Inter"/>
            </a:endParaRPr>
          </a:p>
        </p:txBody>
      </p:sp>
      <p:sp>
        <p:nvSpPr>
          <p:cNvPr id="41" name="TextBox 41"/>
          <p:cNvSpPr txBox="1"/>
          <p:nvPr/>
        </p:nvSpPr>
        <p:spPr>
          <a:xfrm>
            <a:off x="10454726" y="4923283"/>
            <a:ext cx="4716450" cy="2323465"/>
          </a:xfrm>
          <a:prstGeom prst="rect">
            <a:avLst/>
          </a:prstGeom>
        </p:spPr>
        <p:txBody>
          <a:bodyPr lIns="0" tIns="0" rIns="0" bIns="0" rtlCol="0" anchor="t">
            <a:spAutoFit/>
          </a:bodyPr>
          <a:lstStyle/>
          <a:p>
            <a:pPr algn="ctr">
              <a:lnSpc>
                <a:spcPts val="2659"/>
              </a:lnSpc>
            </a:pPr>
            <a:r>
              <a:rPr lang="en-US" sz="1899">
                <a:solidFill>
                  <a:srgbClr val="000000"/>
                </a:solidFill>
                <a:latin typeface="Inter"/>
                <a:ea typeface="Inter"/>
                <a:cs typeface="Inter"/>
                <a:sym typeface="Inter"/>
              </a:rPr>
              <a:t>Policy + Target Network</a:t>
            </a:r>
          </a:p>
          <a:p>
            <a:pPr algn="ctr">
              <a:lnSpc>
                <a:spcPts val="2659"/>
              </a:lnSpc>
            </a:pPr>
            <a:r>
              <a:rPr lang="en-US" sz="1899">
                <a:solidFill>
                  <a:srgbClr val="000000"/>
                </a:solidFill>
                <a:latin typeface="Inter"/>
                <a:ea typeface="Inter"/>
                <a:cs typeface="Inter"/>
                <a:sym typeface="Inter"/>
              </a:rPr>
              <a:t>+ Replay Buffer</a:t>
            </a:r>
          </a:p>
          <a:p>
            <a:pPr algn="ctr">
              <a:lnSpc>
                <a:spcPts val="2659"/>
              </a:lnSpc>
            </a:pPr>
            <a:r>
              <a:rPr lang="en-US" sz="1899">
                <a:solidFill>
                  <a:srgbClr val="000000"/>
                </a:solidFill>
                <a:latin typeface="Inter"/>
                <a:ea typeface="Inter"/>
                <a:cs typeface="Inter"/>
                <a:sym typeface="Inter"/>
              </a:rPr>
              <a:t>Prefill 5000 steps</a:t>
            </a:r>
          </a:p>
          <a:p>
            <a:pPr algn="ctr">
              <a:lnSpc>
                <a:spcPts val="2659"/>
              </a:lnSpc>
            </a:pPr>
            <a:r>
              <a:rPr lang="en-US" sz="1899">
                <a:solidFill>
                  <a:srgbClr val="000000"/>
                </a:solidFill>
                <a:latin typeface="Inter"/>
                <a:ea typeface="Inter"/>
                <a:cs typeface="Inter"/>
                <a:sym typeface="Inter"/>
              </a:rPr>
              <a:t>ε-greedy: 1.0→0.18</a:t>
            </a:r>
          </a:p>
          <a:p>
            <a:pPr algn="ctr">
              <a:lnSpc>
                <a:spcPts val="2659"/>
              </a:lnSpc>
            </a:pPr>
            <a:r>
              <a:rPr lang="en-US" sz="1899">
                <a:solidFill>
                  <a:srgbClr val="000000"/>
                </a:solidFill>
                <a:latin typeface="Inter"/>
                <a:ea typeface="Inter"/>
                <a:cs typeface="Inter"/>
                <a:sym typeface="Inter"/>
              </a:rPr>
              <a:t>300K steps, Batch: 64</a:t>
            </a:r>
          </a:p>
          <a:p>
            <a:pPr algn="ctr">
              <a:lnSpc>
                <a:spcPts val="2659"/>
              </a:lnSpc>
            </a:pPr>
            <a:r>
              <a:rPr lang="en-US" sz="1899">
                <a:solidFill>
                  <a:srgbClr val="000000"/>
                </a:solidFill>
                <a:latin typeface="Inter"/>
                <a:ea typeface="Inter"/>
                <a:cs typeface="Inter"/>
                <a:sym typeface="Inter"/>
              </a:rPr>
              <a:t>Target update: 800 steps</a:t>
            </a:r>
          </a:p>
          <a:p>
            <a:pPr algn="ctr">
              <a:lnSpc>
                <a:spcPts val="2659"/>
              </a:lnSpc>
              <a:spcBef>
                <a:spcPct val="0"/>
              </a:spcBef>
            </a:pPr>
            <a:r>
              <a:rPr lang="en-US" sz="1899">
                <a:solidFill>
                  <a:srgbClr val="000000"/>
                </a:solidFill>
                <a:latin typeface="Inter"/>
                <a:ea typeface="Inter"/>
                <a:cs typeface="Inter"/>
                <a:sym typeface="Inter"/>
              </a:rPr>
              <a:t>Validation: 10K steps</a:t>
            </a:r>
          </a:p>
        </p:txBody>
      </p:sp>
      <p:sp>
        <p:nvSpPr>
          <p:cNvPr id="42" name="TextBox 42"/>
          <p:cNvSpPr txBox="1"/>
          <p:nvPr/>
        </p:nvSpPr>
        <p:spPr>
          <a:xfrm>
            <a:off x="1960680" y="7848840"/>
            <a:ext cx="4716450"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Inter Bold"/>
                <a:ea typeface="Inter Bold"/>
                <a:cs typeface="Inter Bold"/>
                <a:sym typeface="Inter Bold"/>
              </a:rPr>
              <a:t>Evaluation</a:t>
            </a:r>
          </a:p>
        </p:txBody>
      </p:sp>
      <p:sp>
        <p:nvSpPr>
          <p:cNvPr id="43" name="TextBox 43"/>
          <p:cNvSpPr txBox="1"/>
          <p:nvPr/>
        </p:nvSpPr>
        <p:spPr>
          <a:xfrm>
            <a:off x="10948521" y="7896465"/>
            <a:ext cx="4716450" cy="490856"/>
          </a:xfrm>
          <a:prstGeom prst="rect">
            <a:avLst/>
          </a:prstGeom>
        </p:spPr>
        <p:txBody>
          <a:bodyPr lIns="0" tIns="0" rIns="0" bIns="0" rtlCol="0" anchor="t">
            <a:spAutoFit/>
          </a:bodyPr>
          <a:lstStyle/>
          <a:p>
            <a:pPr algn="ctr">
              <a:lnSpc>
                <a:spcPts val="3919"/>
              </a:lnSpc>
              <a:spcBef>
                <a:spcPct val="0"/>
              </a:spcBef>
            </a:pPr>
            <a:endParaRPr/>
          </a:p>
        </p:txBody>
      </p:sp>
      <p:sp>
        <p:nvSpPr>
          <p:cNvPr id="44" name="TextBox 44"/>
          <p:cNvSpPr txBox="1"/>
          <p:nvPr/>
        </p:nvSpPr>
        <p:spPr>
          <a:xfrm>
            <a:off x="1930447" y="8416226"/>
            <a:ext cx="4716450" cy="1397000"/>
          </a:xfrm>
          <a:prstGeom prst="rect">
            <a:avLst/>
          </a:prstGeom>
        </p:spPr>
        <p:txBody>
          <a:bodyPr lIns="0" tIns="0" rIns="0" bIns="0" rtlCol="0" anchor="t">
            <a:spAutoFit/>
          </a:bodyPr>
          <a:lstStyle/>
          <a:p>
            <a:pPr algn="ctr">
              <a:lnSpc>
                <a:spcPts val="2799"/>
              </a:lnSpc>
            </a:pPr>
            <a:r>
              <a:rPr lang="en-US" sz="1999">
                <a:solidFill>
                  <a:srgbClr val="000000"/>
                </a:solidFill>
                <a:latin typeface="Inter"/>
                <a:ea typeface="Inter"/>
                <a:cs typeface="Inter"/>
                <a:sym typeface="Inter"/>
              </a:rPr>
              <a:t>Load Model + Test Split</a:t>
            </a:r>
          </a:p>
          <a:p>
            <a:pPr algn="ctr">
              <a:lnSpc>
                <a:spcPts val="2799"/>
              </a:lnSpc>
            </a:pPr>
            <a:r>
              <a:rPr lang="en-US" sz="1999">
                <a:solidFill>
                  <a:srgbClr val="000000"/>
                </a:solidFill>
                <a:latin typeface="Inter"/>
                <a:ea typeface="Inter"/>
                <a:cs typeface="Inter"/>
                <a:sym typeface="Inter"/>
              </a:rPr>
              <a:t>Greedy Action Selection</a:t>
            </a:r>
          </a:p>
          <a:p>
            <a:pPr algn="ctr">
              <a:lnSpc>
                <a:spcPts val="2799"/>
              </a:lnSpc>
            </a:pPr>
            <a:r>
              <a:rPr lang="en-US" sz="1999">
                <a:solidFill>
                  <a:srgbClr val="000000"/>
                </a:solidFill>
                <a:latin typeface="Inter"/>
                <a:ea typeface="Inter"/>
                <a:cs typeface="Inter"/>
                <a:sym typeface="Inter"/>
              </a:rPr>
              <a:t>Metrics: Return, Sharpe Ratio</a:t>
            </a:r>
          </a:p>
          <a:p>
            <a:pPr algn="ctr">
              <a:lnSpc>
                <a:spcPts val="2799"/>
              </a:lnSpc>
              <a:spcBef>
                <a:spcPct val="0"/>
              </a:spcBef>
            </a:pPr>
            <a:endParaRPr lang="en-US" sz="1999">
              <a:solidFill>
                <a:srgbClr val="000000"/>
              </a:solidFill>
              <a:latin typeface="Inter"/>
              <a:ea typeface="Inter"/>
              <a:cs typeface="Inter"/>
              <a:sym typeface="Inter"/>
            </a:endParaRPr>
          </a:p>
        </p:txBody>
      </p:sp>
      <p:sp>
        <p:nvSpPr>
          <p:cNvPr id="45" name="TextBox 45"/>
          <p:cNvSpPr txBox="1"/>
          <p:nvPr/>
        </p:nvSpPr>
        <p:spPr>
          <a:xfrm>
            <a:off x="10948521" y="7896465"/>
            <a:ext cx="4716450"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Inter Bold"/>
                <a:ea typeface="Inter Bold"/>
                <a:cs typeface="Inter Bold"/>
                <a:sym typeface="Inter Bold"/>
              </a:rPr>
              <a:t>Results and Validation</a:t>
            </a:r>
          </a:p>
        </p:txBody>
      </p:sp>
      <p:sp>
        <p:nvSpPr>
          <p:cNvPr id="46" name="TextBox 46"/>
          <p:cNvSpPr txBox="1"/>
          <p:nvPr/>
        </p:nvSpPr>
        <p:spPr>
          <a:xfrm>
            <a:off x="10831725" y="8406370"/>
            <a:ext cx="4716450" cy="1471295"/>
          </a:xfrm>
          <a:prstGeom prst="rect">
            <a:avLst/>
          </a:prstGeom>
        </p:spPr>
        <p:txBody>
          <a:bodyPr lIns="0" tIns="0" rIns="0" bIns="0" rtlCol="0" anchor="t">
            <a:spAutoFit/>
          </a:bodyPr>
          <a:lstStyle/>
          <a:p>
            <a:pPr algn="ctr">
              <a:lnSpc>
                <a:spcPts val="2380"/>
              </a:lnSpc>
            </a:pPr>
            <a:r>
              <a:rPr lang="en-US" sz="1700">
                <a:solidFill>
                  <a:srgbClr val="000000"/>
                </a:solidFill>
                <a:latin typeface="Inter"/>
                <a:ea typeface="Inter"/>
                <a:cs typeface="Inter"/>
                <a:sym typeface="Inter"/>
              </a:rPr>
              <a:t>PPO Outperforms DQN</a:t>
            </a:r>
          </a:p>
          <a:p>
            <a:pPr algn="ctr">
              <a:lnSpc>
                <a:spcPts val="2380"/>
              </a:lnSpc>
            </a:pPr>
            <a:r>
              <a:rPr lang="en-US" sz="1700">
                <a:solidFill>
                  <a:srgbClr val="000000"/>
                </a:solidFill>
                <a:latin typeface="Inter"/>
                <a:ea typeface="Inter"/>
                <a:cs typeface="Inter"/>
                <a:sym typeface="Inter"/>
              </a:rPr>
              <a:t>Per-Ticker Returns &amp;</a:t>
            </a:r>
          </a:p>
          <a:p>
            <a:pPr algn="ctr">
              <a:lnSpc>
                <a:spcPts val="2380"/>
              </a:lnSpc>
            </a:pPr>
            <a:r>
              <a:rPr lang="en-US" sz="1700">
                <a:solidFill>
                  <a:srgbClr val="000000"/>
                </a:solidFill>
                <a:latin typeface="Inter"/>
                <a:ea typeface="Inter"/>
                <a:cs typeface="Inter"/>
                <a:sym typeface="Inter"/>
              </a:rPr>
              <a:t>Sharpe Ratio</a:t>
            </a:r>
          </a:p>
          <a:p>
            <a:pPr algn="ctr">
              <a:lnSpc>
                <a:spcPts val="2380"/>
              </a:lnSpc>
            </a:pPr>
            <a:r>
              <a:rPr lang="en-US" sz="1700">
                <a:solidFill>
                  <a:srgbClr val="000000"/>
                </a:solidFill>
                <a:latin typeface="Inter"/>
                <a:ea typeface="Inter"/>
                <a:cs typeface="Inter"/>
                <a:sym typeface="Inter"/>
              </a:rPr>
              <a:t>Performance Summary</a:t>
            </a:r>
          </a:p>
          <a:p>
            <a:pPr algn="ctr">
              <a:lnSpc>
                <a:spcPts val="2380"/>
              </a:lnSpc>
              <a:spcBef>
                <a:spcPct val="0"/>
              </a:spcBef>
            </a:pPr>
            <a:endParaRPr lang="en-US" sz="1700">
              <a:solidFill>
                <a:srgbClr val="000000"/>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51064" y="6045522"/>
            <a:ext cx="17736936" cy="0"/>
          </a:xfrm>
          <a:prstGeom prst="line">
            <a:avLst/>
          </a:prstGeom>
          <a:ln w="47625" cap="flat">
            <a:solidFill>
              <a:srgbClr val="000000">
                <a:alpha val="29804"/>
              </a:srgbClr>
            </a:solidFill>
            <a:prstDash val="solid"/>
            <a:headEnd type="none" w="sm" len="sm"/>
            <a:tailEnd type="none" w="sm" len="sm"/>
          </a:ln>
        </p:spPr>
      </p:sp>
      <p:sp>
        <p:nvSpPr>
          <p:cNvPr id="3" name="AutoShape 3"/>
          <p:cNvSpPr/>
          <p:nvPr/>
        </p:nvSpPr>
        <p:spPr>
          <a:xfrm>
            <a:off x="9144000" y="2400860"/>
            <a:ext cx="0" cy="7886140"/>
          </a:xfrm>
          <a:prstGeom prst="line">
            <a:avLst/>
          </a:prstGeom>
          <a:ln w="47625" cap="flat">
            <a:solidFill>
              <a:srgbClr val="000000">
                <a:alpha val="29804"/>
              </a:srgbClr>
            </a:solidFill>
            <a:prstDash val="solid"/>
            <a:headEnd type="none" w="sm" len="sm"/>
            <a:tailEnd type="none" w="sm" len="sm"/>
          </a:ln>
        </p:spPr>
      </p:sp>
      <p:grpSp>
        <p:nvGrpSpPr>
          <p:cNvPr id="4" name="Group 4"/>
          <p:cNvGrpSpPr/>
          <p:nvPr/>
        </p:nvGrpSpPr>
        <p:grpSpPr>
          <a:xfrm>
            <a:off x="1432799" y="2400860"/>
            <a:ext cx="5238763" cy="695324"/>
            <a:chOff x="0" y="0"/>
            <a:chExt cx="3332822" cy="442355"/>
          </a:xfrm>
        </p:grpSpPr>
        <p:sp>
          <p:nvSpPr>
            <p:cNvPr id="5" name="Freeform 5"/>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6" name="TextBox 6"/>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State Representation</a:t>
              </a:r>
            </a:p>
          </p:txBody>
        </p:sp>
      </p:grpSp>
      <p:grpSp>
        <p:nvGrpSpPr>
          <p:cNvPr id="7" name="Group 7"/>
          <p:cNvGrpSpPr/>
          <p:nvPr/>
        </p:nvGrpSpPr>
        <p:grpSpPr>
          <a:xfrm>
            <a:off x="1432799" y="6296171"/>
            <a:ext cx="5238763" cy="695324"/>
            <a:chOff x="0" y="0"/>
            <a:chExt cx="3332822" cy="442355"/>
          </a:xfrm>
        </p:grpSpPr>
        <p:sp>
          <p:nvSpPr>
            <p:cNvPr id="8" name="Freeform 8"/>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9" name="TextBox 9"/>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Model Architecture</a:t>
              </a:r>
            </a:p>
          </p:txBody>
        </p:sp>
      </p:grpSp>
      <p:grpSp>
        <p:nvGrpSpPr>
          <p:cNvPr id="10" name="Group 10"/>
          <p:cNvGrpSpPr/>
          <p:nvPr/>
        </p:nvGrpSpPr>
        <p:grpSpPr>
          <a:xfrm>
            <a:off x="10299375" y="2315850"/>
            <a:ext cx="4807195" cy="695324"/>
            <a:chOff x="0" y="0"/>
            <a:chExt cx="3058265" cy="442355"/>
          </a:xfrm>
        </p:grpSpPr>
        <p:sp>
          <p:nvSpPr>
            <p:cNvPr id="11" name="Freeform 11"/>
            <p:cNvSpPr/>
            <p:nvPr/>
          </p:nvSpPr>
          <p:spPr>
            <a:xfrm>
              <a:off x="0" y="0"/>
              <a:ext cx="3058265" cy="442355"/>
            </a:xfrm>
            <a:custGeom>
              <a:avLst/>
              <a:gdLst/>
              <a:ahLst/>
              <a:cxnLst/>
              <a:rect l="l" t="t" r="r" b="b"/>
              <a:pathLst>
                <a:path w="3058265" h="442355">
                  <a:moveTo>
                    <a:pt x="2855065" y="0"/>
                  </a:moveTo>
                  <a:cubicBezTo>
                    <a:pt x="2967289" y="0"/>
                    <a:pt x="3058265" y="99024"/>
                    <a:pt x="3058265" y="221177"/>
                  </a:cubicBezTo>
                  <a:cubicBezTo>
                    <a:pt x="3058265" y="343330"/>
                    <a:pt x="2967289" y="442355"/>
                    <a:pt x="2855065"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12" name="TextBox 12"/>
            <p:cNvSpPr txBox="1"/>
            <p:nvPr/>
          </p:nvSpPr>
          <p:spPr>
            <a:xfrm>
              <a:off x="0" y="-47625"/>
              <a:ext cx="3058265"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Reward Function</a:t>
              </a:r>
            </a:p>
          </p:txBody>
        </p:sp>
      </p:grpSp>
      <p:grpSp>
        <p:nvGrpSpPr>
          <p:cNvPr id="13" name="Group 13"/>
          <p:cNvGrpSpPr/>
          <p:nvPr/>
        </p:nvGrpSpPr>
        <p:grpSpPr>
          <a:xfrm>
            <a:off x="10648402" y="6322043"/>
            <a:ext cx="4722615" cy="695324"/>
            <a:chOff x="0" y="0"/>
            <a:chExt cx="3004456" cy="442355"/>
          </a:xfrm>
        </p:grpSpPr>
        <p:sp>
          <p:nvSpPr>
            <p:cNvPr id="14" name="Freeform 14"/>
            <p:cNvSpPr/>
            <p:nvPr/>
          </p:nvSpPr>
          <p:spPr>
            <a:xfrm>
              <a:off x="0" y="0"/>
              <a:ext cx="3004457" cy="442355"/>
            </a:xfrm>
            <a:custGeom>
              <a:avLst/>
              <a:gdLst/>
              <a:ahLst/>
              <a:cxnLst/>
              <a:rect l="l" t="t" r="r" b="b"/>
              <a:pathLst>
                <a:path w="3004457" h="442355">
                  <a:moveTo>
                    <a:pt x="2801257" y="0"/>
                  </a:moveTo>
                  <a:cubicBezTo>
                    <a:pt x="2913481" y="0"/>
                    <a:pt x="3004457" y="99024"/>
                    <a:pt x="3004457" y="221177"/>
                  </a:cubicBezTo>
                  <a:cubicBezTo>
                    <a:pt x="3004457" y="343330"/>
                    <a:pt x="2913481" y="442355"/>
                    <a:pt x="2801257"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15" name="TextBox 15"/>
            <p:cNvSpPr txBox="1"/>
            <p:nvPr/>
          </p:nvSpPr>
          <p:spPr>
            <a:xfrm>
              <a:off x="0" y="-47625"/>
              <a:ext cx="3004456"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Training Strategy</a:t>
              </a:r>
            </a:p>
          </p:txBody>
        </p:sp>
      </p:grpSp>
      <p:sp>
        <p:nvSpPr>
          <p:cNvPr id="16" name="TextBox 16"/>
          <p:cNvSpPr txBox="1"/>
          <p:nvPr/>
        </p:nvSpPr>
        <p:spPr>
          <a:xfrm>
            <a:off x="551064" y="260909"/>
            <a:ext cx="17010783" cy="1739901"/>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DEEP Q-NETWORK FOR STOCK TRADING: ARCHITECTURE &amp; TRAINING FLOW</a:t>
            </a:r>
          </a:p>
        </p:txBody>
      </p:sp>
      <p:sp>
        <p:nvSpPr>
          <p:cNvPr id="17" name="TextBox 17"/>
          <p:cNvSpPr txBox="1"/>
          <p:nvPr/>
        </p:nvSpPr>
        <p:spPr>
          <a:xfrm>
            <a:off x="551064" y="3394549"/>
            <a:ext cx="8158356" cy="2406015"/>
          </a:xfrm>
          <a:prstGeom prst="rect">
            <a:avLst/>
          </a:prstGeom>
        </p:spPr>
        <p:txBody>
          <a:bodyPr lIns="0" tIns="0" rIns="0" bIns="0" rtlCol="0" anchor="t">
            <a:spAutoFit/>
          </a:bodyPr>
          <a:lstStyle/>
          <a:p>
            <a:pPr marL="561339" lvl="1" indent="-280669" algn="just">
              <a:lnSpc>
                <a:spcPts val="3899"/>
              </a:lnSpc>
              <a:buFont typeface="Arial"/>
              <a:buChar char="•"/>
            </a:pPr>
            <a:r>
              <a:rPr lang="en-US" sz="2599">
                <a:solidFill>
                  <a:srgbClr val="000000"/>
                </a:solidFill>
                <a:latin typeface="Open Sans"/>
                <a:ea typeface="Open Sans"/>
                <a:cs typeface="Open Sans"/>
                <a:sym typeface="Open Sans"/>
              </a:rPr>
              <a:t>30-day sliding window of features (Close, MA, RSI, BB, MACD, Momentum, etc.)</a:t>
            </a:r>
          </a:p>
          <a:p>
            <a:pPr marL="561339" lvl="1" indent="-280669" algn="just">
              <a:lnSpc>
                <a:spcPts val="3899"/>
              </a:lnSpc>
              <a:buFont typeface="Arial"/>
              <a:buChar char="•"/>
            </a:pPr>
            <a:r>
              <a:rPr lang="en-US" sz="2599">
                <a:solidFill>
                  <a:srgbClr val="000000"/>
                </a:solidFill>
                <a:latin typeface="Open Sans"/>
                <a:ea typeface="Open Sans"/>
                <a:cs typeface="Open Sans"/>
                <a:sym typeface="Open Sans"/>
              </a:rPr>
              <a:t>StandardScaler applied per ticker</a:t>
            </a:r>
          </a:p>
          <a:p>
            <a:pPr marL="561339" lvl="1" indent="-280669" algn="just">
              <a:lnSpc>
                <a:spcPts val="3899"/>
              </a:lnSpc>
              <a:buFont typeface="Arial"/>
              <a:buChar char="•"/>
            </a:pPr>
            <a:r>
              <a:rPr lang="en-US" sz="2599">
                <a:solidFill>
                  <a:srgbClr val="000000"/>
                </a:solidFill>
                <a:latin typeface="Open Sans"/>
                <a:ea typeface="Open Sans"/>
                <a:cs typeface="Open Sans"/>
                <a:sym typeface="Open Sans"/>
              </a:rPr>
              <a:t>State = Flattened Window + Current Shares Held</a:t>
            </a:r>
          </a:p>
          <a:p>
            <a:pPr marL="0" lvl="0" indent="0" algn="just">
              <a:lnSpc>
                <a:spcPts val="3899"/>
              </a:lnSpc>
            </a:pPr>
            <a:endParaRPr lang="en-US" sz="2599">
              <a:solidFill>
                <a:srgbClr val="000000"/>
              </a:solidFill>
              <a:latin typeface="Open Sans"/>
              <a:ea typeface="Open Sans"/>
              <a:cs typeface="Open Sans"/>
              <a:sym typeface="Open Sans"/>
            </a:endParaRPr>
          </a:p>
        </p:txBody>
      </p:sp>
      <p:grpSp>
        <p:nvGrpSpPr>
          <p:cNvPr id="18" name="Group 18"/>
          <p:cNvGrpSpPr/>
          <p:nvPr/>
        </p:nvGrpSpPr>
        <p:grpSpPr>
          <a:xfrm>
            <a:off x="763347" y="2400860"/>
            <a:ext cx="669452" cy="66945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9629923" y="2341722"/>
            <a:ext cx="669452" cy="66945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693974" y="6322043"/>
            <a:ext cx="669452" cy="66945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9912274" y="6309107"/>
            <a:ext cx="669452" cy="66945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551064" y="7227560"/>
            <a:ext cx="8102399" cy="2952750"/>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0: Hold, 1: Buy, 2: Sell (Action States)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Embedding Layer for ticker identity (16-dim)</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Input = state vector + ticker embedding</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3 × 512-unit fully-connected layers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Output = Q-values for 3 actions</a:t>
            </a:r>
          </a:p>
          <a:p>
            <a:pPr marL="0" lvl="0" indent="0" algn="just">
              <a:lnSpc>
                <a:spcPts val="3450"/>
              </a:lnSpc>
            </a:pPr>
            <a:endParaRPr lang="en-US" sz="2699">
              <a:solidFill>
                <a:srgbClr val="000000"/>
              </a:solidFill>
              <a:latin typeface="Open Sans"/>
              <a:ea typeface="Open Sans"/>
              <a:cs typeface="Open Sans"/>
              <a:sym typeface="Open Sans"/>
            </a:endParaRPr>
          </a:p>
        </p:txBody>
      </p:sp>
      <p:sp>
        <p:nvSpPr>
          <p:cNvPr id="31" name="TextBox 31"/>
          <p:cNvSpPr txBox="1"/>
          <p:nvPr/>
        </p:nvSpPr>
        <p:spPr>
          <a:xfrm>
            <a:off x="9144000" y="3266361"/>
            <a:ext cx="8784750" cy="244792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Reward = percentage change in portfolio value</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reward = (new_val − prev_val) / prev_val</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Encourages profitable trades while penalizing bad ones</a:t>
            </a:r>
          </a:p>
          <a:p>
            <a:pPr marL="0" lvl="0" indent="0" algn="just">
              <a:lnSpc>
                <a:spcPts val="3450"/>
              </a:lnSpc>
            </a:pPr>
            <a:endParaRPr lang="en-US" sz="2699">
              <a:solidFill>
                <a:srgbClr val="000000"/>
              </a:solidFill>
              <a:latin typeface="Open Sans"/>
              <a:ea typeface="Open Sans"/>
              <a:cs typeface="Open Sans"/>
              <a:sym typeface="Open Sans"/>
            </a:endParaRPr>
          </a:p>
        </p:txBody>
      </p:sp>
      <p:sp>
        <p:nvSpPr>
          <p:cNvPr id="32" name="TextBox 32"/>
          <p:cNvSpPr txBox="1"/>
          <p:nvPr/>
        </p:nvSpPr>
        <p:spPr>
          <a:xfrm>
            <a:off x="9144000" y="6931642"/>
            <a:ext cx="8115300"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Replay buffer (100k) + random prefill (5k)</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ε-greedy exploration (1 → 0.18)</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Target network update every 800 steps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Trained for 300,000 steps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Validation after every 10,000 steps to prevent overfitting</a:t>
            </a:r>
          </a:p>
          <a:p>
            <a:pPr marL="0" lvl="0" indent="0" algn="just">
              <a:lnSpc>
                <a:spcPts val="3450"/>
              </a:lnSpc>
            </a:pPr>
            <a:endParaRPr lang="en-US" sz="2699">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51064" y="6045522"/>
            <a:ext cx="17736936" cy="0"/>
          </a:xfrm>
          <a:prstGeom prst="line">
            <a:avLst/>
          </a:prstGeom>
          <a:ln w="47625" cap="flat">
            <a:solidFill>
              <a:srgbClr val="000000">
                <a:alpha val="29804"/>
              </a:srgbClr>
            </a:solidFill>
            <a:prstDash val="solid"/>
            <a:headEnd type="none" w="sm" len="sm"/>
            <a:tailEnd type="none" w="sm" len="sm"/>
          </a:ln>
        </p:spPr>
      </p:sp>
      <p:sp>
        <p:nvSpPr>
          <p:cNvPr id="3" name="AutoShape 3"/>
          <p:cNvSpPr/>
          <p:nvPr/>
        </p:nvSpPr>
        <p:spPr>
          <a:xfrm>
            <a:off x="9144000" y="2400860"/>
            <a:ext cx="0" cy="7886140"/>
          </a:xfrm>
          <a:prstGeom prst="line">
            <a:avLst/>
          </a:prstGeom>
          <a:ln w="47625" cap="flat">
            <a:solidFill>
              <a:srgbClr val="000000">
                <a:alpha val="29804"/>
              </a:srgbClr>
            </a:solidFill>
            <a:prstDash val="solid"/>
            <a:headEnd type="none" w="sm" len="sm"/>
            <a:tailEnd type="none" w="sm" len="sm"/>
          </a:ln>
        </p:spPr>
      </p:sp>
      <p:grpSp>
        <p:nvGrpSpPr>
          <p:cNvPr id="4" name="Group 4"/>
          <p:cNvGrpSpPr/>
          <p:nvPr/>
        </p:nvGrpSpPr>
        <p:grpSpPr>
          <a:xfrm>
            <a:off x="1432799" y="2400860"/>
            <a:ext cx="5238763" cy="695324"/>
            <a:chOff x="0" y="0"/>
            <a:chExt cx="3332822" cy="442355"/>
          </a:xfrm>
        </p:grpSpPr>
        <p:sp>
          <p:nvSpPr>
            <p:cNvPr id="5" name="Freeform 5"/>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6" name="TextBox 6"/>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Evaluation Method</a:t>
              </a:r>
            </a:p>
          </p:txBody>
        </p:sp>
      </p:grpSp>
      <p:grpSp>
        <p:nvGrpSpPr>
          <p:cNvPr id="7" name="Group 7"/>
          <p:cNvGrpSpPr/>
          <p:nvPr/>
        </p:nvGrpSpPr>
        <p:grpSpPr>
          <a:xfrm>
            <a:off x="1432799" y="6296171"/>
            <a:ext cx="5238763" cy="695324"/>
            <a:chOff x="0" y="0"/>
            <a:chExt cx="3332822" cy="442355"/>
          </a:xfrm>
        </p:grpSpPr>
        <p:sp>
          <p:nvSpPr>
            <p:cNvPr id="8" name="Freeform 8"/>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9" name="TextBox 9"/>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Final Results </a:t>
              </a:r>
            </a:p>
          </p:txBody>
        </p:sp>
      </p:grpSp>
      <p:grpSp>
        <p:nvGrpSpPr>
          <p:cNvPr id="10" name="Group 10"/>
          <p:cNvGrpSpPr/>
          <p:nvPr/>
        </p:nvGrpSpPr>
        <p:grpSpPr>
          <a:xfrm>
            <a:off x="10563822" y="2400860"/>
            <a:ext cx="4807195" cy="695324"/>
            <a:chOff x="0" y="0"/>
            <a:chExt cx="3058265" cy="442355"/>
          </a:xfrm>
        </p:grpSpPr>
        <p:sp>
          <p:nvSpPr>
            <p:cNvPr id="11" name="Freeform 11"/>
            <p:cNvSpPr/>
            <p:nvPr/>
          </p:nvSpPr>
          <p:spPr>
            <a:xfrm>
              <a:off x="0" y="0"/>
              <a:ext cx="3058265" cy="442355"/>
            </a:xfrm>
            <a:custGeom>
              <a:avLst/>
              <a:gdLst/>
              <a:ahLst/>
              <a:cxnLst/>
              <a:rect l="l" t="t" r="r" b="b"/>
              <a:pathLst>
                <a:path w="3058265" h="442355">
                  <a:moveTo>
                    <a:pt x="2855065" y="0"/>
                  </a:moveTo>
                  <a:cubicBezTo>
                    <a:pt x="2967289" y="0"/>
                    <a:pt x="3058265" y="99024"/>
                    <a:pt x="3058265" y="221177"/>
                  </a:cubicBezTo>
                  <a:cubicBezTo>
                    <a:pt x="3058265" y="343330"/>
                    <a:pt x="2967289" y="442355"/>
                    <a:pt x="2855065"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12" name="TextBox 12"/>
            <p:cNvSpPr txBox="1"/>
            <p:nvPr/>
          </p:nvSpPr>
          <p:spPr>
            <a:xfrm>
              <a:off x="0" y="-47625"/>
              <a:ext cx="3058265"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Metrics Used</a:t>
              </a:r>
            </a:p>
          </p:txBody>
        </p:sp>
      </p:grpSp>
      <p:grpSp>
        <p:nvGrpSpPr>
          <p:cNvPr id="13" name="Group 13"/>
          <p:cNvGrpSpPr/>
          <p:nvPr/>
        </p:nvGrpSpPr>
        <p:grpSpPr>
          <a:xfrm>
            <a:off x="10648402" y="6322043"/>
            <a:ext cx="4722615" cy="695324"/>
            <a:chOff x="0" y="0"/>
            <a:chExt cx="3004456" cy="442355"/>
          </a:xfrm>
        </p:grpSpPr>
        <p:sp>
          <p:nvSpPr>
            <p:cNvPr id="14" name="Freeform 14"/>
            <p:cNvSpPr/>
            <p:nvPr/>
          </p:nvSpPr>
          <p:spPr>
            <a:xfrm>
              <a:off x="0" y="0"/>
              <a:ext cx="3004457" cy="442355"/>
            </a:xfrm>
            <a:custGeom>
              <a:avLst/>
              <a:gdLst/>
              <a:ahLst/>
              <a:cxnLst/>
              <a:rect l="l" t="t" r="r" b="b"/>
              <a:pathLst>
                <a:path w="3004457" h="442355">
                  <a:moveTo>
                    <a:pt x="2801257" y="0"/>
                  </a:moveTo>
                  <a:cubicBezTo>
                    <a:pt x="2913481" y="0"/>
                    <a:pt x="3004457" y="99024"/>
                    <a:pt x="3004457" y="221177"/>
                  </a:cubicBezTo>
                  <a:cubicBezTo>
                    <a:pt x="3004457" y="343330"/>
                    <a:pt x="2913481" y="442355"/>
                    <a:pt x="2801257"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15" name="TextBox 15"/>
            <p:cNvSpPr txBox="1"/>
            <p:nvPr/>
          </p:nvSpPr>
          <p:spPr>
            <a:xfrm>
              <a:off x="0" y="-47625"/>
              <a:ext cx="3004456"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Insights</a:t>
              </a:r>
            </a:p>
          </p:txBody>
        </p:sp>
      </p:grpSp>
      <p:sp>
        <p:nvSpPr>
          <p:cNvPr id="16" name="TextBox 16"/>
          <p:cNvSpPr txBox="1"/>
          <p:nvPr/>
        </p:nvSpPr>
        <p:spPr>
          <a:xfrm>
            <a:off x="693974" y="585712"/>
            <a:ext cx="17010783" cy="920116"/>
          </a:xfrm>
          <a:prstGeom prst="rect">
            <a:avLst/>
          </a:prstGeom>
        </p:spPr>
        <p:txBody>
          <a:bodyPr lIns="0" tIns="0" rIns="0" bIns="0" rtlCol="0" anchor="t">
            <a:spAutoFit/>
          </a:bodyPr>
          <a:lstStyle/>
          <a:p>
            <a:pPr algn="l">
              <a:lnSpc>
                <a:spcPts val="7559"/>
              </a:lnSpc>
            </a:pPr>
            <a:r>
              <a:rPr lang="en-US" sz="5399" b="1" spc="107">
                <a:solidFill>
                  <a:srgbClr val="000000"/>
                </a:solidFill>
                <a:latin typeface="Garet Bold"/>
                <a:ea typeface="Garet Bold"/>
                <a:cs typeface="Garet Bold"/>
                <a:sym typeface="Garet Bold"/>
              </a:rPr>
              <a:t>PERFORMANCE EVALUATION AND RETURNS</a:t>
            </a:r>
          </a:p>
        </p:txBody>
      </p:sp>
      <p:sp>
        <p:nvSpPr>
          <p:cNvPr id="17" name="TextBox 17"/>
          <p:cNvSpPr txBox="1"/>
          <p:nvPr/>
        </p:nvSpPr>
        <p:spPr>
          <a:xfrm>
            <a:off x="763347" y="3385024"/>
            <a:ext cx="7946072" cy="2506980"/>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Tested on unseen test data (2023–2024)</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20 episodes per ticker with stochastic starting points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Final value = cash + (shares × last price)</a:t>
            </a:r>
          </a:p>
          <a:p>
            <a:pPr marL="0" lvl="0" indent="0" algn="just">
              <a:lnSpc>
                <a:spcPts val="4049"/>
              </a:lnSpc>
            </a:pPr>
            <a:endParaRPr lang="en-US" sz="2699">
              <a:solidFill>
                <a:srgbClr val="000000"/>
              </a:solidFill>
              <a:latin typeface="Open Sans"/>
              <a:ea typeface="Open Sans"/>
              <a:cs typeface="Open Sans"/>
              <a:sym typeface="Open Sans"/>
            </a:endParaRPr>
          </a:p>
        </p:txBody>
      </p:sp>
      <p:grpSp>
        <p:nvGrpSpPr>
          <p:cNvPr id="18" name="Group 18"/>
          <p:cNvGrpSpPr/>
          <p:nvPr/>
        </p:nvGrpSpPr>
        <p:grpSpPr>
          <a:xfrm>
            <a:off x="763347" y="2400860"/>
            <a:ext cx="669452" cy="66945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9894370" y="2400860"/>
            <a:ext cx="669452" cy="66945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693974" y="6322043"/>
            <a:ext cx="669452" cy="66945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9912274" y="6309107"/>
            <a:ext cx="669452" cy="66945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693974" y="7039120"/>
            <a:ext cx="7698750"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MSFT: 3.79%, Sharpe 11.88</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GOOGL: 6.67%, Sharpe 26.00</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TSLA: 21.79%, Sharpe 37.87</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META: 19.79%, Sharpe 21.29</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NFLX: 38.68%, Sharpe 32.94</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Average Eval Return: 18.14%</a:t>
            </a:r>
          </a:p>
          <a:p>
            <a:pPr marL="0" lvl="0" indent="0" algn="just">
              <a:lnSpc>
                <a:spcPts val="3450"/>
              </a:lnSpc>
            </a:pPr>
            <a:endParaRPr lang="en-US" sz="2699">
              <a:solidFill>
                <a:srgbClr val="000000"/>
              </a:solidFill>
              <a:latin typeface="Open Sans"/>
              <a:ea typeface="Open Sans"/>
              <a:cs typeface="Open Sans"/>
              <a:sym typeface="Open Sans"/>
            </a:endParaRPr>
          </a:p>
        </p:txBody>
      </p:sp>
      <p:sp>
        <p:nvSpPr>
          <p:cNvPr id="31" name="TextBox 31"/>
          <p:cNvSpPr txBox="1"/>
          <p:nvPr/>
        </p:nvSpPr>
        <p:spPr>
          <a:xfrm>
            <a:off x="9894370" y="3275886"/>
            <a:ext cx="7629377" cy="2529840"/>
          </a:xfrm>
          <a:prstGeom prst="rect">
            <a:avLst/>
          </a:prstGeom>
        </p:spPr>
        <p:txBody>
          <a:bodyPr lIns="0" tIns="0" rIns="0" bIns="0" rtlCol="0" anchor="t">
            <a:spAutoFit/>
          </a:bodyPr>
          <a:lstStyle/>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Total Return (%) = (final_value / initial_cash − 1) × 100</a:t>
            </a:r>
          </a:p>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Sharpe Ratio (annualised) using episode-level daily returns</a:t>
            </a:r>
          </a:p>
          <a:p>
            <a:pPr marL="0" lvl="0" indent="0" algn="just">
              <a:lnSpc>
                <a:spcPts val="3600"/>
              </a:lnSpc>
            </a:pPr>
            <a:endParaRPr lang="en-US" sz="2799">
              <a:solidFill>
                <a:srgbClr val="000000"/>
              </a:solidFill>
              <a:latin typeface="Open Sans"/>
              <a:ea typeface="Open Sans"/>
              <a:cs typeface="Open Sans"/>
              <a:sym typeface="Open Sans"/>
            </a:endParaRPr>
          </a:p>
        </p:txBody>
      </p:sp>
      <p:sp>
        <p:nvSpPr>
          <p:cNvPr id="32" name="TextBox 32"/>
          <p:cNvSpPr txBox="1"/>
          <p:nvPr/>
        </p:nvSpPr>
        <p:spPr>
          <a:xfrm>
            <a:off x="9629923" y="6931642"/>
            <a:ext cx="7629377"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Model learns strong momentum-based behaviour (best on TSLA &amp; NFLX)</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High Sharpe ratios show consistent reward signals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Ticker embedding allows one DQN to trade multiple stocks</a:t>
            </a:r>
          </a:p>
          <a:p>
            <a:pPr marL="0" lvl="0" indent="0" algn="just">
              <a:lnSpc>
                <a:spcPts val="3450"/>
              </a:lnSpc>
            </a:pPr>
            <a:endParaRPr lang="en-US" sz="2699">
              <a:solidFill>
                <a:srgbClr val="000000"/>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2022517"/>
            <a:chOff x="0" y="0"/>
            <a:chExt cx="4816593" cy="532679"/>
          </a:xfrm>
        </p:grpSpPr>
        <p:sp>
          <p:nvSpPr>
            <p:cNvPr id="3" name="Freeform 3"/>
            <p:cNvSpPr/>
            <p:nvPr/>
          </p:nvSpPr>
          <p:spPr>
            <a:xfrm>
              <a:off x="0" y="0"/>
              <a:ext cx="4816592" cy="532679"/>
            </a:xfrm>
            <a:custGeom>
              <a:avLst/>
              <a:gdLst/>
              <a:ahLst/>
              <a:cxnLst/>
              <a:rect l="l" t="t" r="r" b="b"/>
              <a:pathLst>
                <a:path w="4816592" h="532679">
                  <a:moveTo>
                    <a:pt x="0" y="0"/>
                  </a:moveTo>
                  <a:lnTo>
                    <a:pt x="4816592" y="0"/>
                  </a:lnTo>
                  <a:lnTo>
                    <a:pt x="4816592" y="532679"/>
                  </a:lnTo>
                  <a:lnTo>
                    <a:pt x="0" y="532679"/>
                  </a:lnTo>
                  <a:close/>
                </a:path>
              </a:pathLst>
            </a:custGeom>
            <a:solidFill>
              <a:srgbClr val="0345E4"/>
            </a:solidFill>
          </p:spPr>
        </p:sp>
        <p:sp>
          <p:nvSpPr>
            <p:cNvPr id="4" name="TextBox 4"/>
            <p:cNvSpPr txBox="1"/>
            <p:nvPr/>
          </p:nvSpPr>
          <p:spPr>
            <a:xfrm>
              <a:off x="0" y="-38100"/>
              <a:ext cx="4816593" cy="57077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3533121"/>
            <a:ext cx="9249267" cy="5725179"/>
          </a:xfrm>
          <a:custGeom>
            <a:avLst/>
            <a:gdLst/>
            <a:ahLst/>
            <a:cxnLst/>
            <a:rect l="l" t="t" r="r" b="b"/>
            <a:pathLst>
              <a:path w="9249267" h="5725179">
                <a:moveTo>
                  <a:pt x="0" y="0"/>
                </a:moveTo>
                <a:lnTo>
                  <a:pt x="9249267" y="0"/>
                </a:lnTo>
                <a:lnTo>
                  <a:pt x="9249267" y="5725179"/>
                </a:lnTo>
                <a:lnTo>
                  <a:pt x="0" y="5725179"/>
                </a:lnTo>
                <a:lnTo>
                  <a:pt x="0" y="0"/>
                </a:lnTo>
                <a:close/>
              </a:path>
            </a:pathLst>
          </a:custGeom>
          <a:blipFill>
            <a:blip r:embed="rId2"/>
            <a:stretch>
              <a:fillRect/>
            </a:stretch>
          </a:blipFill>
        </p:spPr>
      </p:sp>
      <p:sp>
        <p:nvSpPr>
          <p:cNvPr id="6" name="Freeform 6"/>
          <p:cNvSpPr/>
          <p:nvPr/>
        </p:nvSpPr>
        <p:spPr>
          <a:xfrm>
            <a:off x="9144000" y="3533121"/>
            <a:ext cx="8806816" cy="5725179"/>
          </a:xfrm>
          <a:custGeom>
            <a:avLst/>
            <a:gdLst/>
            <a:ahLst/>
            <a:cxnLst/>
            <a:rect l="l" t="t" r="r" b="b"/>
            <a:pathLst>
              <a:path w="8806816" h="5725179">
                <a:moveTo>
                  <a:pt x="0" y="0"/>
                </a:moveTo>
                <a:lnTo>
                  <a:pt x="8806816" y="0"/>
                </a:lnTo>
                <a:lnTo>
                  <a:pt x="8806816" y="5725179"/>
                </a:lnTo>
                <a:lnTo>
                  <a:pt x="0" y="5725179"/>
                </a:lnTo>
                <a:lnTo>
                  <a:pt x="0" y="0"/>
                </a:lnTo>
                <a:close/>
              </a:path>
            </a:pathLst>
          </a:custGeom>
          <a:blipFill>
            <a:blip r:embed="rId3"/>
            <a:stretch>
              <a:fillRect r="-5023"/>
            </a:stretch>
          </a:blipFill>
        </p:spPr>
      </p:sp>
      <p:sp>
        <p:nvSpPr>
          <p:cNvPr id="7" name="TextBox 7"/>
          <p:cNvSpPr txBox="1"/>
          <p:nvPr/>
        </p:nvSpPr>
        <p:spPr>
          <a:xfrm>
            <a:off x="732080" y="464523"/>
            <a:ext cx="10769833" cy="979171"/>
          </a:xfrm>
          <a:prstGeom prst="rect">
            <a:avLst/>
          </a:prstGeom>
        </p:spPr>
        <p:txBody>
          <a:bodyPr lIns="0" tIns="0" rIns="0" bIns="0" rtlCol="0" anchor="t">
            <a:spAutoFit/>
          </a:bodyPr>
          <a:lstStyle/>
          <a:p>
            <a:pPr algn="l">
              <a:lnSpc>
                <a:spcPts val="7979"/>
              </a:lnSpc>
            </a:pPr>
            <a:r>
              <a:rPr lang="en-US" sz="5699" b="1" spc="113">
                <a:solidFill>
                  <a:srgbClr val="FFFFFF"/>
                </a:solidFill>
                <a:latin typeface="Garet Bold"/>
                <a:ea typeface="Garet Bold"/>
                <a:cs typeface="Garet Bold"/>
                <a:sym typeface="Garet Bold"/>
              </a:rPr>
              <a:t>DQN STATISTICS:</a:t>
            </a:r>
          </a:p>
        </p:txBody>
      </p:sp>
      <p:sp>
        <p:nvSpPr>
          <p:cNvPr id="8" name="TextBox 8"/>
          <p:cNvSpPr txBox="1"/>
          <p:nvPr/>
        </p:nvSpPr>
        <p:spPr>
          <a:xfrm>
            <a:off x="473984" y="2455556"/>
            <a:ext cx="7399715" cy="587376"/>
          </a:xfrm>
          <a:prstGeom prst="rect">
            <a:avLst/>
          </a:prstGeom>
        </p:spPr>
        <p:txBody>
          <a:bodyPr lIns="0" tIns="0" rIns="0" bIns="0" rtlCol="0" anchor="t">
            <a:spAutoFit/>
          </a:bodyPr>
          <a:lstStyle/>
          <a:p>
            <a:pPr algn="l">
              <a:lnSpc>
                <a:spcPts val="4899"/>
              </a:lnSpc>
            </a:pPr>
            <a:r>
              <a:rPr lang="en-US" sz="3499" b="1">
                <a:solidFill>
                  <a:srgbClr val="000000"/>
                </a:solidFill>
                <a:latin typeface="Garet Ultra-Bold"/>
                <a:ea typeface="Garet Ultra-Bold"/>
                <a:cs typeface="Garet Ultra-Bold"/>
                <a:sym typeface="Garet Ultra-Bold"/>
              </a:rPr>
              <a:t>Evaluation return per ticker</a:t>
            </a:r>
          </a:p>
        </p:txBody>
      </p:sp>
      <p:sp>
        <p:nvSpPr>
          <p:cNvPr id="9" name="TextBox 9"/>
          <p:cNvSpPr txBox="1"/>
          <p:nvPr/>
        </p:nvSpPr>
        <p:spPr>
          <a:xfrm>
            <a:off x="10068776" y="2455556"/>
            <a:ext cx="7399715" cy="587376"/>
          </a:xfrm>
          <a:prstGeom prst="rect">
            <a:avLst/>
          </a:prstGeom>
        </p:spPr>
        <p:txBody>
          <a:bodyPr lIns="0" tIns="0" rIns="0" bIns="0" rtlCol="0" anchor="t">
            <a:spAutoFit/>
          </a:bodyPr>
          <a:lstStyle/>
          <a:p>
            <a:pPr algn="l">
              <a:lnSpc>
                <a:spcPts val="4899"/>
              </a:lnSpc>
            </a:pPr>
            <a:r>
              <a:rPr lang="en-US" sz="3499" b="1">
                <a:solidFill>
                  <a:srgbClr val="000000"/>
                </a:solidFill>
                <a:latin typeface="Garet Ultra-Bold"/>
                <a:ea typeface="Garet Ultra-Bold"/>
                <a:cs typeface="Garet Ultra-Bold"/>
                <a:sym typeface="Garet Ultra-Bold"/>
              </a:rPr>
              <a:t>Sharpe ratio per ticker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51064" y="6045522"/>
            <a:ext cx="17736936" cy="0"/>
          </a:xfrm>
          <a:prstGeom prst="line">
            <a:avLst/>
          </a:prstGeom>
          <a:ln w="47625" cap="flat">
            <a:solidFill>
              <a:srgbClr val="000000">
                <a:alpha val="29804"/>
              </a:srgbClr>
            </a:solidFill>
            <a:prstDash val="solid"/>
            <a:headEnd type="none" w="sm" len="sm"/>
            <a:tailEnd type="none" w="sm" len="sm"/>
          </a:ln>
        </p:spPr>
      </p:sp>
      <p:sp>
        <p:nvSpPr>
          <p:cNvPr id="3" name="AutoShape 3"/>
          <p:cNvSpPr/>
          <p:nvPr/>
        </p:nvSpPr>
        <p:spPr>
          <a:xfrm>
            <a:off x="9144000" y="2400860"/>
            <a:ext cx="0" cy="7886140"/>
          </a:xfrm>
          <a:prstGeom prst="line">
            <a:avLst/>
          </a:prstGeom>
          <a:ln w="47625" cap="flat">
            <a:solidFill>
              <a:srgbClr val="000000">
                <a:alpha val="29804"/>
              </a:srgbClr>
            </a:solidFill>
            <a:prstDash val="solid"/>
            <a:headEnd type="none" w="sm" len="sm"/>
            <a:tailEnd type="none" w="sm" len="sm"/>
          </a:ln>
        </p:spPr>
      </p:sp>
      <p:grpSp>
        <p:nvGrpSpPr>
          <p:cNvPr id="4" name="Group 4"/>
          <p:cNvGrpSpPr/>
          <p:nvPr/>
        </p:nvGrpSpPr>
        <p:grpSpPr>
          <a:xfrm>
            <a:off x="1432799" y="2220201"/>
            <a:ext cx="5238763" cy="695324"/>
            <a:chOff x="0" y="0"/>
            <a:chExt cx="3332822" cy="442355"/>
          </a:xfrm>
        </p:grpSpPr>
        <p:sp>
          <p:nvSpPr>
            <p:cNvPr id="5" name="Freeform 5"/>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6" name="TextBox 6"/>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State Representation</a:t>
              </a:r>
            </a:p>
          </p:txBody>
        </p:sp>
      </p:grpSp>
      <p:grpSp>
        <p:nvGrpSpPr>
          <p:cNvPr id="7" name="Group 7"/>
          <p:cNvGrpSpPr/>
          <p:nvPr/>
        </p:nvGrpSpPr>
        <p:grpSpPr>
          <a:xfrm>
            <a:off x="1432799" y="6296171"/>
            <a:ext cx="5238763" cy="695324"/>
            <a:chOff x="0" y="0"/>
            <a:chExt cx="3332822" cy="442355"/>
          </a:xfrm>
        </p:grpSpPr>
        <p:sp>
          <p:nvSpPr>
            <p:cNvPr id="8" name="Freeform 8"/>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9" name="TextBox 9"/>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Model Architecture</a:t>
              </a:r>
            </a:p>
          </p:txBody>
        </p:sp>
      </p:grpSp>
      <p:grpSp>
        <p:nvGrpSpPr>
          <p:cNvPr id="10" name="Group 10"/>
          <p:cNvGrpSpPr/>
          <p:nvPr/>
        </p:nvGrpSpPr>
        <p:grpSpPr>
          <a:xfrm>
            <a:off x="10648402" y="2182417"/>
            <a:ext cx="4807195" cy="695324"/>
            <a:chOff x="0" y="0"/>
            <a:chExt cx="3058265" cy="442355"/>
          </a:xfrm>
        </p:grpSpPr>
        <p:sp>
          <p:nvSpPr>
            <p:cNvPr id="11" name="Freeform 11"/>
            <p:cNvSpPr/>
            <p:nvPr/>
          </p:nvSpPr>
          <p:spPr>
            <a:xfrm>
              <a:off x="0" y="0"/>
              <a:ext cx="3058265" cy="442355"/>
            </a:xfrm>
            <a:custGeom>
              <a:avLst/>
              <a:gdLst/>
              <a:ahLst/>
              <a:cxnLst/>
              <a:rect l="l" t="t" r="r" b="b"/>
              <a:pathLst>
                <a:path w="3058265" h="442355">
                  <a:moveTo>
                    <a:pt x="2855065" y="0"/>
                  </a:moveTo>
                  <a:cubicBezTo>
                    <a:pt x="2967289" y="0"/>
                    <a:pt x="3058265" y="99024"/>
                    <a:pt x="3058265" y="221177"/>
                  </a:cubicBezTo>
                  <a:cubicBezTo>
                    <a:pt x="3058265" y="343330"/>
                    <a:pt x="2967289" y="442355"/>
                    <a:pt x="2855065"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12" name="TextBox 12"/>
            <p:cNvSpPr txBox="1"/>
            <p:nvPr/>
          </p:nvSpPr>
          <p:spPr>
            <a:xfrm>
              <a:off x="0" y="-47625"/>
              <a:ext cx="3058265"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Reward Function</a:t>
              </a:r>
            </a:p>
          </p:txBody>
        </p:sp>
      </p:grpSp>
      <p:grpSp>
        <p:nvGrpSpPr>
          <p:cNvPr id="13" name="Group 13"/>
          <p:cNvGrpSpPr/>
          <p:nvPr/>
        </p:nvGrpSpPr>
        <p:grpSpPr>
          <a:xfrm>
            <a:off x="10648402" y="6322043"/>
            <a:ext cx="4722615" cy="695324"/>
            <a:chOff x="0" y="0"/>
            <a:chExt cx="3004456" cy="442355"/>
          </a:xfrm>
        </p:grpSpPr>
        <p:sp>
          <p:nvSpPr>
            <p:cNvPr id="14" name="Freeform 14"/>
            <p:cNvSpPr/>
            <p:nvPr/>
          </p:nvSpPr>
          <p:spPr>
            <a:xfrm>
              <a:off x="0" y="0"/>
              <a:ext cx="3004457" cy="442355"/>
            </a:xfrm>
            <a:custGeom>
              <a:avLst/>
              <a:gdLst/>
              <a:ahLst/>
              <a:cxnLst/>
              <a:rect l="l" t="t" r="r" b="b"/>
              <a:pathLst>
                <a:path w="3004457" h="442355">
                  <a:moveTo>
                    <a:pt x="2801257" y="0"/>
                  </a:moveTo>
                  <a:cubicBezTo>
                    <a:pt x="2913481" y="0"/>
                    <a:pt x="3004457" y="99024"/>
                    <a:pt x="3004457" y="221177"/>
                  </a:cubicBezTo>
                  <a:cubicBezTo>
                    <a:pt x="3004457" y="343330"/>
                    <a:pt x="2913481" y="442355"/>
                    <a:pt x="2801257"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15" name="TextBox 15"/>
            <p:cNvSpPr txBox="1"/>
            <p:nvPr/>
          </p:nvSpPr>
          <p:spPr>
            <a:xfrm>
              <a:off x="0" y="-47625"/>
              <a:ext cx="3004456"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Training Strategy</a:t>
              </a:r>
            </a:p>
          </p:txBody>
        </p:sp>
      </p:grpSp>
      <p:sp>
        <p:nvSpPr>
          <p:cNvPr id="16" name="TextBox 16"/>
          <p:cNvSpPr txBox="1"/>
          <p:nvPr/>
        </p:nvSpPr>
        <p:spPr>
          <a:xfrm>
            <a:off x="551064" y="260909"/>
            <a:ext cx="17010783" cy="1739901"/>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PROXIMAL POLICY OPTIMIZATION (PPO): ARCHITECTURE &amp; TRAINING FLOW</a:t>
            </a:r>
          </a:p>
        </p:txBody>
      </p:sp>
      <p:sp>
        <p:nvSpPr>
          <p:cNvPr id="17" name="TextBox 17"/>
          <p:cNvSpPr txBox="1"/>
          <p:nvPr/>
        </p:nvSpPr>
        <p:spPr>
          <a:xfrm>
            <a:off x="693974" y="3058716"/>
            <a:ext cx="8158356" cy="3377565"/>
          </a:xfrm>
          <a:prstGeom prst="rect">
            <a:avLst/>
          </a:prstGeom>
        </p:spPr>
        <p:txBody>
          <a:bodyPr lIns="0" tIns="0" rIns="0" bIns="0" rtlCol="0" anchor="t">
            <a:spAutoFit/>
          </a:bodyPr>
          <a:lstStyle/>
          <a:p>
            <a:pPr marL="561339" lvl="1" indent="-280669" algn="just">
              <a:lnSpc>
                <a:spcPts val="3899"/>
              </a:lnSpc>
              <a:buFont typeface="Arial"/>
              <a:buChar char="•"/>
            </a:pPr>
            <a:r>
              <a:rPr lang="en-US" sz="2599">
                <a:solidFill>
                  <a:srgbClr val="000000"/>
                </a:solidFill>
                <a:latin typeface="Open Sans"/>
                <a:ea typeface="Open Sans"/>
                <a:cs typeface="Open Sans"/>
                <a:sym typeface="Open Sans"/>
              </a:rPr>
              <a:t>30-day window of engineered features (Close, MA, RSI, MACD, BB, etc.)</a:t>
            </a:r>
          </a:p>
          <a:p>
            <a:pPr marL="561339" lvl="1" indent="-280669" algn="just">
              <a:lnSpc>
                <a:spcPts val="3899"/>
              </a:lnSpc>
              <a:buFont typeface="Arial"/>
              <a:buChar char="•"/>
            </a:pPr>
            <a:r>
              <a:rPr lang="en-US" sz="2599">
                <a:solidFill>
                  <a:srgbClr val="000000"/>
                </a:solidFill>
                <a:latin typeface="Open Sans"/>
                <a:ea typeface="Open Sans"/>
                <a:cs typeface="Open Sans"/>
                <a:sym typeface="Open Sans"/>
              </a:rPr>
              <a:t>Ticker Embedding (32-dim) to allow one policy to trade multiple stocks</a:t>
            </a:r>
          </a:p>
          <a:p>
            <a:pPr marL="561339" lvl="1" indent="-280669" algn="just">
              <a:lnSpc>
                <a:spcPts val="3899"/>
              </a:lnSpc>
              <a:buFont typeface="Arial"/>
              <a:buChar char="•"/>
            </a:pPr>
            <a:r>
              <a:rPr lang="en-US" sz="2599">
                <a:solidFill>
                  <a:srgbClr val="000000"/>
                </a:solidFill>
                <a:latin typeface="Open Sans"/>
                <a:ea typeface="Open Sans"/>
                <a:cs typeface="Open Sans"/>
                <a:sym typeface="Open Sans"/>
              </a:rPr>
              <a:t>Final State Vector = Window Features + Cash + Shares</a:t>
            </a:r>
          </a:p>
          <a:p>
            <a:pPr marL="0" lvl="0" indent="0" algn="just">
              <a:lnSpc>
                <a:spcPts val="3899"/>
              </a:lnSpc>
            </a:pPr>
            <a:endParaRPr lang="en-US" sz="2599">
              <a:solidFill>
                <a:srgbClr val="000000"/>
              </a:solidFill>
              <a:latin typeface="Open Sans"/>
              <a:ea typeface="Open Sans"/>
              <a:cs typeface="Open Sans"/>
              <a:sym typeface="Open Sans"/>
            </a:endParaRPr>
          </a:p>
        </p:txBody>
      </p:sp>
      <p:grpSp>
        <p:nvGrpSpPr>
          <p:cNvPr id="18" name="Group 18"/>
          <p:cNvGrpSpPr/>
          <p:nvPr/>
        </p:nvGrpSpPr>
        <p:grpSpPr>
          <a:xfrm>
            <a:off x="763347" y="2208289"/>
            <a:ext cx="669452" cy="66945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9912274" y="2220201"/>
            <a:ext cx="669452" cy="66945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693974" y="6322043"/>
            <a:ext cx="669452" cy="66945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9912274" y="6309107"/>
            <a:ext cx="669452" cy="66945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408154" y="7112617"/>
            <a:ext cx="8301266"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Policy Network (Actor):</a:t>
            </a:r>
          </a:p>
          <a:p>
            <a:pPr marL="1165857" lvl="2" indent="-388619" algn="just">
              <a:lnSpc>
                <a:spcPts val="4049"/>
              </a:lnSpc>
              <a:buFont typeface="Arial"/>
              <a:buChar char="⚬"/>
            </a:pPr>
            <a:r>
              <a:rPr lang="en-US" sz="2699">
                <a:solidFill>
                  <a:srgbClr val="000000"/>
                </a:solidFill>
                <a:latin typeface="Open Sans"/>
                <a:ea typeface="Open Sans"/>
                <a:cs typeface="Open Sans"/>
                <a:sym typeface="Open Sans"/>
              </a:rPr>
              <a:t>3  layers, 512- unit network</a:t>
            </a:r>
          </a:p>
          <a:p>
            <a:pPr marL="1165857" lvl="2" indent="-388619" algn="just">
              <a:lnSpc>
                <a:spcPts val="4049"/>
              </a:lnSpc>
              <a:buFont typeface="Arial"/>
              <a:buChar char="⚬"/>
            </a:pPr>
            <a:r>
              <a:rPr lang="en-US" sz="2699">
                <a:solidFill>
                  <a:srgbClr val="000000"/>
                </a:solidFill>
                <a:latin typeface="Open Sans"/>
                <a:ea typeface="Open Sans"/>
                <a:cs typeface="Open Sans"/>
                <a:sym typeface="Open Sans"/>
              </a:rPr>
              <a:t>LayerNorm + Tanh after every layer</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Value Network (Critic):</a:t>
            </a:r>
          </a:p>
          <a:p>
            <a:pPr marL="1165857" lvl="2" indent="-388619" algn="just">
              <a:lnSpc>
                <a:spcPts val="4049"/>
              </a:lnSpc>
              <a:buFont typeface="Arial"/>
              <a:buChar char="⚬"/>
            </a:pPr>
            <a:r>
              <a:rPr lang="en-US" sz="2699">
                <a:solidFill>
                  <a:srgbClr val="000000"/>
                </a:solidFill>
                <a:latin typeface="Open Sans"/>
                <a:ea typeface="Open Sans"/>
                <a:cs typeface="Open Sans"/>
                <a:sym typeface="Open Sans"/>
              </a:rPr>
              <a:t>3-layer, 512-unit deep network</a:t>
            </a:r>
          </a:p>
          <a:p>
            <a:pPr marL="1165857" lvl="2" indent="-388619" algn="just">
              <a:lnSpc>
                <a:spcPts val="4049"/>
              </a:lnSpc>
              <a:buFont typeface="Arial"/>
              <a:buChar char="⚬"/>
            </a:pPr>
            <a:r>
              <a:rPr lang="en-US" sz="2699">
                <a:solidFill>
                  <a:srgbClr val="000000"/>
                </a:solidFill>
                <a:latin typeface="Open Sans"/>
                <a:ea typeface="Open Sans"/>
                <a:cs typeface="Open Sans"/>
                <a:sym typeface="Open Sans"/>
              </a:rPr>
              <a:t>Tanh used. Critic predicts state value</a:t>
            </a:r>
          </a:p>
          <a:p>
            <a:pPr marL="0" lvl="0" indent="0" algn="just">
              <a:lnSpc>
                <a:spcPts val="3450"/>
              </a:lnSpc>
            </a:pPr>
            <a:endParaRPr lang="en-US" sz="2699">
              <a:solidFill>
                <a:srgbClr val="000000"/>
              </a:solidFill>
              <a:latin typeface="Open Sans"/>
              <a:ea typeface="Open Sans"/>
              <a:cs typeface="Open Sans"/>
              <a:sym typeface="Open Sans"/>
            </a:endParaRPr>
          </a:p>
        </p:txBody>
      </p:sp>
      <p:sp>
        <p:nvSpPr>
          <p:cNvPr id="31" name="TextBox 31"/>
          <p:cNvSpPr txBox="1"/>
          <p:nvPr/>
        </p:nvSpPr>
        <p:spPr>
          <a:xfrm>
            <a:off x="9434512" y="2978706"/>
            <a:ext cx="8457944"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Reward = log-return + 0.02 × activity bonus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log-return: log(new_val / prev_val)</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activity bonus: encourages meaningful position changes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Promotes risk-adjusted growth, not just raw profit</a:t>
            </a:r>
          </a:p>
          <a:p>
            <a:pPr marL="0" lvl="0" indent="0" algn="just">
              <a:lnSpc>
                <a:spcPts val="3450"/>
              </a:lnSpc>
            </a:pPr>
            <a:endParaRPr lang="en-US" sz="2699">
              <a:solidFill>
                <a:srgbClr val="000000"/>
              </a:solidFill>
              <a:latin typeface="Open Sans"/>
              <a:ea typeface="Open Sans"/>
              <a:cs typeface="Open Sans"/>
              <a:sym typeface="Open Sans"/>
            </a:endParaRPr>
          </a:p>
        </p:txBody>
      </p:sp>
      <p:sp>
        <p:nvSpPr>
          <p:cNvPr id="32" name="TextBox 32"/>
          <p:cNvSpPr txBox="1"/>
          <p:nvPr/>
        </p:nvSpPr>
        <p:spPr>
          <a:xfrm>
            <a:off x="9629923" y="7112617"/>
            <a:ext cx="8262533"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Rollout Size: 8192 steps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GAE-λ: 0.95</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Clipped PPO Objective: ε = 0.15</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Minibatches: 128</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Epochs: 6 updates per rollout</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Optimiser used: Adam</a:t>
            </a:r>
          </a:p>
          <a:p>
            <a:pPr marL="0" lvl="0" indent="0" algn="just">
              <a:lnSpc>
                <a:spcPts val="3450"/>
              </a:lnSpc>
            </a:pPr>
            <a:endParaRPr lang="en-US" sz="2699">
              <a:solidFill>
                <a:srgbClr val="000000"/>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51064" y="6045522"/>
            <a:ext cx="17736936" cy="0"/>
          </a:xfrm>
          <a:prstGeom prst="line">
            <a:avLst/>
          </a:prstGeom>
          <a:ln w="47625" cap="flat">
            <a:solidFill>
              <a:srgbClr val="000000">
                <a:alpha val="29804"/>
              </a:srgbClr>
            </a:solidFill>
            <a:prstDash val="solid"/>
            <a:headEnd type="none" w="sm" len="sm"/>
            <a:tailEnd type="none" w="sm" len="sm"/>
          </a:ln>
        </p:spPr>
      </p:sp>
      <p:sp>
        <p:nvSpPr>
          <p:cNvPr id="3" name="AutoShape 3"/>
          <p:cNvSpPr/>
          <p:nvPr/>
        </p:nvSpPr>
        <p:spPr>
          <a:xfrm>
            <a:off x="8483212" y="2503077"/>
            <a:ext cx="0" cy="7886140"/>
          </a:xfrm>
          <a:prstGeom prst="line">
            <a:avLst/>
          </a:prstGeom>
          <a:ln w="47625" cap="flat">
            <a:solidFill>
              <a:srgbClr val="000000">
                <a:alpha val="29804"/>
              </a:srgbClr>
            </a:solidFill>
            <a:prstDash val="solid"/>
            <a:headEnd type="none" w="sm" len="sm"/>
            <a:tailEnd type="none" w="sm" len="sm"/>
          </a:ln>
        </p:spPr>
      </p:sp>
      <p:grpSp>
        <p:nvGrpSpPr>
          <p:cNvPr id="4" name="Group 4"/>
          <p:cNvGrpSpPr/>
          <p:nvPr/>
        </p:nvGrpSpPr>
        <p:grpSpPr>
          <a:xfrm>
            <a:off x="1591861" y="2040262"/>
            <a:ext cx="5238763" cy="695324"/>
            <a:chOff x="0" y="0"/>
            <a:chExt cx="3332822" cy="442355"/>
          </a:xfrm>
        </p:grpSpPr>
        <p:sp>
          <p:nvSpPr>
            <p:cNvPr id="5" name="Freeform 5"/>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6" name="TextBox 6"/>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Evaluation Method</a:t>
              </a:r>
            </a:p>
          </p:txBody>
        </p:sp>
      </p:grpSp>
      <p:grpSp>
        <p:nvGrpSpPr>
          <p:cNvPr id="7" name="Group 7"/>
          <p:cNvGrpSpPr/>
          <p:nvPr/>
        </p:nvGrpSpPr>
        <p:grpSpPr>
          <a:xfrm>
            <a:off x="1432799" y="6296171"/>
            <a:ext cx="5238763" cy="695324"/>
            <a:chOff x="0" y="0"/>
            <a:chExt cx="3332822" cy="442355"/>
          </a:xfrm>
        </p:grpSpPr>
        <p:sp>
          <p:nvSpPr>
            <p:cNvPr id="8" name="Freeform 8"/>
            <p:cNvSpPr/>
            <p:nvPr/>
          </p:nvSpPr>
          <p:spPr>
            <a:xfrm>
              <a:off x="0" y="0"/>
              <a:ext cx="3332822" cy="442355"/>
            </a:xfrm>
            <a:custGeom>
              <a:avLst/>
              <a:gdLst/>
              <a:ahLst/>
              <a:cxnLst/>
              <a:rect l="l" t="t" r="r" b="b"/>
              <a:pathLst>
                <a:path w="3332822" h="442355">
                  <a:moveTo>
                    <a:pt x="3129622" y="0"/>
                  </a:moveTo>
                  <a:cubicBezTo>
                    <a:pt x="3241846" y="0"/>
                    <a:pt x="3332822" y="99024"/>
                    <a:pt x="3332822" y="221177"/>
                  </a:cubicBezTo>
                  <a:cubicBezTo>
                    <a:pt x="3332822" y="343330"/>
                    <a:pt x="3241846" y="442355"/>
                    <a:pt x="3129622"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9" name="TextBox 9"/>
            <p:cNvSpPr txBox="1"/>
            <p:nvPr/>
          </p:nvSpPr>
          <p:spPr>
            <a:xfrm>
              <a:off x="0" y="-47625"/>
              <a:ext cx="3332822"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Final Results </a:t>
              </a:r>
            </a:p>
          </p:txBody>
        </p:sp>
      </p:grpSp>
      <p:grpSp>
        <p:nvGrpSpPr>
          <p:cNvPr id="10" name="Group 10"/>
          <p:cNvGrpSpPr/>
          <p:nvPr/>
        </p:nvGrpSpPr>
        <p:grpSpPr>
          <a:xfrm>
            <a:off x="10212362" y="2084139"/>
            <a:ext cx="4807195" cy="695324"/>
            <a:chOff x="0" y="0"/>
            <a:chExt cx="3058265" cy="442355"/>
          </a:xfrm>
        </p:grpSpPr>
        <p:sp>
          <p:nvSpPr>
            <p:cNvPr id="11" name="Freeform 11"/>
            <p:cNvSpPr/>
            <p:nvPr/>
          </p:nvSpPr>
          <p:spPr>
            <a:xfrm>
              <a:off x="0" y="0"/>
              <a:ext cx="3058265" cy="442355"/>
            </a:xfrm>
            <a:custGeom>
              <a:avLst/>
              <a:gdLst/>
              <a:ahLst/>
              <a:cxnLst/>
              <a:rect l="l" t="t" r="r" b="b"/>
              <a:pathLst>
                <a:path w="3058265" h="442355">
                  <a:moveTo>
                    <a:pt x="2855065" y="0"/>
                  </a:moveTo>
                  <a:cubicBezTo>
                    <a:pt x="2967289" y="0"/>
                    <a:pt x="3058265" y="99024"/>
                    <a:pt x="3058265" y="221177"/>
                  </a:cubicBezTo>
                  <a:cubicBezTo>
                    <a:pt x="3058265" y="343330"/>
                    <a:pt x="2967289" y="442355"/>
                    <a:pt x="2855065" y="442355"/>
                  </a:cubicBezTo>
                  <a:lnTo>
                    <a:pt x="203200" y="442355"/>
                  </a:lnTo>
                  <a:cubicBezTo>
                    <a:pt x="90976" y="442355"/>
                    <a:pt x="0" y="343330"/>
                    <a:pt x="0" y="221177"/>
                  </a:cubicBezTo>
                  <a:cubicBezTo>
                    <a:pt x="0" y="99024"/>
                    <a:pt x="90976" y="0"/>
                    <a:pt x="203200" y="0"/>
                  </a:cubicBezTo>
                  <a:close/>
                </a:path>
              </a:pathLst>
            </a:custGeom>
            <a:solidFill>
              <a:srgbClr val="000000"/>
            </a:solidFill>
          </p:spPr>
        </p:sp>
        <p:sp>
          <p:nvSpPr>
            <p:cNvPr id="12" name="TextBox 12"/>
            <p:cNvSpPr txBox="1"/>
            <p:nvPr/>
          </p:nvSpPr>
          <p:spPr>
            <a:xfrm>
              <a:off x="0" y="-47625"/>
              <a:ext cx="3058265"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Metrics Used</a:t>
              </a:r>
            </a:p>
          </p:txBody>
        </p:sp>
      </p:grpSp>
      <p:grpSp>
        <p:nvGrpSpPr>
          <p:cNvPr id="13" name="Group 13"/>
          <p:cNvGrpSpPr/>
          <p:nvPr/>
        </p:nvGrpSpPr>
        <p:grpSpPr>
          <a:xfrm>
            <a:off x="10135017" y="6322043"/>
            <a:ext cx="4722615" cy="695324"/>
            <a:chOff x="0" y="0"/>
            <a:chExt cx="3004456" cy="442355"/>
          </a:xfrm>
        </p:grpSpPr>
        <p:sp>
          <p:nvSpPr>
            <p:cNvPr id="14" name="Freeform 14"/>
            <p:cNvSpPr/>
            <p:nvPr/>
          </p:nvSpPr>
          <p:spPr>
            <a:xfrm>
              <a:off x="0" y="0"/>
              <a:ext cx="3004457" cy="442355"/>
            </a:xfrm>
            <a:custGeom>
              <a:avLst/>
              <a:gdLst/>
              <a:ahLst/>
              <a:cxnLst/>
              <a:rect l="l" t="t" r="r" b="b"/>
              <a:pathLst>
                <a:path w="3004457" h="442355">
                  <a:moveTo>
                    <a:pt x="2801257" y="0"/>
                  </a:moveTo>
                  <a:cubicBezTo>
                    <a:pt x="2913481" y="0"/>
                    <a:pt x="3004457" y="99024"/>
                    <a:pt x="3004457" y="221177"/>
                  </a:cubicBezTo>
                  <a:cubicBezTo>
                    <a:pt x="3004457" y="343330"/>
                    <a:pt x="2913481" y="442355"/>
                    <a:pt x="2801257" y="442355"/>
                  </a:cubicBezTo>
                  <a:lnTo>
                    <a:pt x="203200" y="442355"/>
                  </a:lnTo>
                  <a:cubicBezTo>
                    <a:pt x="90976" y="442355"/>
                    <a:pt x="0" y="343330"/>
                    <a:pt x="0" y="221177"/>
                  </a:cubicBezTo>
                  <a:cubicBezTo>
                    <a:pt x="0" y="99024"/>
                    <a:pt x="90976" y="0"/>
                    <a:pt x="203200" y="0"/>
                  </a:cubicBezTo>
                  <a:close/>
                </a:path>
              </a:pathLst>
            </a:custGeom>
            <a:solidFill>
              <a:srgbClr val="0345E4"/>
            </a:solidFill>
          </p:spPr>
        </p:sp>
        <p:sp>
          <p:nvSpPr>
            <p:cNvPr id="15" name="TextBox 15"/>
            <p:cNvSpPr txBox="1"/>
            <p:nvPr/>
          </p:nvSpPr>
          <p:spPr>
            <a:xfrm>
              <a:off x="0" y="-47625"/>
              <a:ext cx="3004456" cy="489980"/>
            </a:xfrm>
            <a:prstGeom prst="rect">
              <a:avLst/>
            </a:prstGeom>
          </p:spPr>
          <p:txBody>
            <a:bodyPr lIns="50800" tIns="50800" rIns="50800" bIns="50800" rtlCol="0" anchor="ctr"/>
            <a:lstStyle/>
            <a:p>
              <a:pPr algn="ctr">
                <a:lnSpc>
                  <a:spcPts val="4199"/>
                </a:lnSpc>
              </a:pPr>
              <a:r>
                <a:rPr lang="en-US" sz="2999" b="1">
                  <a:solidFill>
                    <a:srgbClr val="FFFFFF"/>
                  </a:solidFill>
                  <a:latin typeface="Garet Bold"/>
                  <a:ea typeface="Garet Bold"/>
                  <a:cs typeface="Garet Bold"/>
                  <a:sym typeface="Garet Bold"/>
                </a:rPr>
                <a:t>Insights</a:t>
              </a:r>
            </a:p>
          </p:txBody>
        </p:sp>
      </p:grpSp>
      <p:sp>
        <p:nvSpPr>
          <p:cNvPr id="16" name="TextBox 16"/>
          <p:cNvSpPr txBox="1"/>
          <p:nvPr/>
        </p:nvSpPr>
        <p:spPr>
          <a:xfrm>
            <a:off x="551064" y="556184"/>
            <a:ext cx="17010783" cy="1739901"/>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PERFORMANCE EVALUATION AND RETURNS (PPO)</a:t>
            </a:r>
          </a:p>
        </p:txBody>
      </p:sp>
      <p:sp>
        <p:nvSpPr>
          <p:cNvPr id="17" name="TextBox 17"/>
          <p:cNvSpPr txBox="1"/>
          <p:nvPr/>
        </p:nvSpPr>
        <p:spPr>
          <a:xfrm>
            <a:off x="0" y="2991807"/>
            <a:ext cx="8214119" cy="2571750"/>
          </a:xfrm>
          <a:prstGeom prst="rect">
            <a:avLst/>
          </a:prstGeom>
        </p:spPr>
        <p:txBody>
          <a:bodyPr lIns="0" tIns="0" rIns="0" bIns="0" rtlCol="0" anchor="t">
            <a:spAutoFit/>
          </a:bodyPr>
          <a:lstStyle/>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Tested on unseen test data (2023-2024)</a:t>
            </a:r>
          </a:p>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Run 10 independent episodes</a:t>
            </a:r>
          </a:p>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Compute daily returns, total return percentage and final Sharpe ratio</a:t>
            </a:r>
          </a:p>
          <a:p>
            <a:pPr marL="0" lvl="0" indent="0" algn="just">
              <a:lnSpc>
                <a:spcPts val="4049"/>
              </a:lnSpc>
            </a:pPr>
            <a:endParaRPr lang="en-US" sz="2799">
              <a:solidFill>
                <a:srgbClr val="000000"/>
              </a:solidFill>
              <a:latin typeface="Open Sans"/>
              <a:ea typeface="Open Sans"/>
              <a:cs typeface="Open Sans"/>
              <a:sym typeface="Open Sans"/>
            </a:endParaRPr>
          </a:p>
        </p:txBody>
      </p:sp>
      <p:grpSp>
        <p:nvGrpSpPr>
          <p:cNvPr id="18" name="Group 18"/>
          <p:cNvGrpSpPr/>
          <p:nvPr/>
        </p:nvGrpSpPr>
        <p:grpSpPr>
          <a:xfrm>
            <a:off x="763347" y="1961359"/>
            <a:ext cx="669452" cy="66945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9465564" y="2084139"/>
            <a:ext cx="669452" cy="66945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693974" y="6322043"/>
            <a:ext cx="669452" cy="66945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9380984" y="6309107"/>
            <a:ext cx="669452" cy="66945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251522" y="7124845"/>
            <a:ext cx="8141202"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MSFT: 5.90%, Sharpe 4.88</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 GOOGL: 22.49%, Sharpe 21.24</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 TSLA: 90.46%, Sharpe 35.39</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 META: 19.25%, Sharpe 10.70</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 NFLX: 36.10%, Sharpe 38.33</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Average Eval Return: 34.84%</a:t>
            </a:r>
          </a:p>
          <a:p>
            <a:pPr marL="0" lvl="0" indent="0" algn="just">
              <a:lnSpc>
                <a:spcPts val="3450"/>
              </a:lnSpc>
            </a:pPr>
            <a:endParaRPr lang="en-US" sz="2699">
              <a:solidFill>
                <a:srgbClr val="000000"/>
              </a:solidFill>
              <a:latin typeface="Open Sans"/>
              <a:ea typeface="Open Sans"/>
              <a:cs typeface="Open Sans"/>
              <a:sym typeface="Open Sans"/>
            </a:endParaRPr>
          </a:p>
        </p:txBody>
      </p:sp>
      <p:sp>
        <p:nvSpPr>
          <p:cNvPr id="31" name="TextBox 31"/>
          <p:cNvSpPr txBox="1"/>
          <p:nvPr/>
        </p:nvSpPr>
        <p:spPr>
          <a:xfrm>
            <a:off x="8598806" y="2991807"/>
            <a:ext cx="9578581" cy="3053715"/>
          </a:xfrm>
          <a:prstGeom prst="rect">
            <a:avLst/>
          </a:prstGeom>
        </p:spPr>
        <p:txBody>
          <a:bodyPr lIns="0" tIns="0" rIns="0" bIns="0" rtlCol="0" anchor="t">
            <a:spAutoFit/>
          </a:bodyPr>
          <a:lstStyle/>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Total Return (%) = (final value  /  initial cash − 1) × 100</a:t>
            </a:r>
          </a:p>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Sharpe Ratio = (mean(daily_ret) / std(daily_ret)) × √252</a:t>
            </a:r>
          </a:p>
          <a:p>
            <a:pPr marL="604518" lvl="1" indent="-302259" algn="just">
              <a:lnSpc>
                <a:spcPts val="4199"/>
              </a:lnSpc>
              <a:buFont typeface="Arial"/>
              <a:buChar char="•"/>
            </a:pPr>
            <a:r>
              <a:rPr lang="en-US" sz="2799">
                <a:solidFill>
                  <a:srgbClr val="000000"/>
                </a:solidFill>
                <a:latin typeface="Open Sans"/>
                <a:ea typeface="Open Sans"/>
                <a:cs typeface="Open Sans"/>
                <a:sym typeface="Open Sans"/>
              </a:rPr>
              <a:t>Graphs plotted:</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Return per ticker</a:t>
            </a:r>
          </a:p>
          <a:p>
            <a:pPr marL="1209036" lvl="2" indent="-403012" algn="just">
              <a:lnSpc>
                <a:spcPts val="4199"/>
              </a:lnSpc>
              <a:buFont typeface="Arial"/>
              <a:buChar char="⚬"/>
            </a:pPr>
            <a:r>
              <a:rPr lang="en-US" sz="2799">
                <a:solidFill>
                  <a:srgbClr val="000000"/>
                </a:solidFill>
                <a:latin typeface="Open Sans"/>
                <a:ea typeface="Open Sans"/>
                <a:cs typeface="Open Sans"/>
                <a:sym typeface="Open Sans"/>
              </a:rPr>
              <a:t>Sharpe ratio per ticker</a:t>
            </a:r>
          </a:p>
          <a:p>
            <a:pPr marL="0" lvl="0" indent="0" algn="just">
              <a:lnSpc>
                <a:spcPts val="3600"/>
              </a:lnSpc>
            </a:pPr>
            <a:endParaRPr lang="en-US" sz="2799">
              <a:solidFill>
                <a:srgbClr val="000000"/>
              </a:solidFill>
              <a:latin typeface="Open Sans"/>
              <a:ea typeface="Open Sans"/>
              <a:cs typeface="Open Sans"/>
              <a:sym typeface="Open Sans"/>
            </a:endParaRPr>
          </a:p>
        </p:txBody>
      </p:sp>
      <p:sp>
        <p:nvSpPr>
          <p:cNvPr id="32" name="TextBox 32"/>
          <p:cNvSpPr txBox="1"/>
          <p:nvPr/>
        </p:nvSpPr>
        <p:spPr>
          <a:xfrm>
            <a:off x="8709419" y="6931642"/>
            <a:ext cx="9357355" cy="3457575"/>
          </a:xfrm>
          <a:prstGeom prst="rect">
            <a:avLst/>
          </a:prstGeom>
        </p:spPr>
        <p:txBody>
          <a:bodyPr lIns="0" tIns="0" rIns="0" bIns="0" rtlCol="0" anchor="t">
            <a:spAutoFit/>
          </a:bodyPr>
          <a:lstStyle/>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PPO learns strong high-volatility exploitation (best on TSLA &amp; NFLX).</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Cash &amp; share normalisation stabilises training across high/low-priced stocks.</a:t>
            </a:r>
          </a:p>
          <a:p>
            <a:pPr marL="582928" lvl="1" indent="-291464" algn="just">
              <a:lnSpc>
                <a:spcPts val="4049"/>
              </a:lnSpc>
              <a:buFont typeface="Arial"/>
              <a:buChar char="•"/>
            </a:pPr>
            <a:r>
              <a:rPr lang="en-US" sz="2699">
                <a:solidFill>
                  <a:srgbClr val="000000"/>
                </a:solidFill>
                <a:latin typeface="Open Sans"/>
                <a:ea typeface="Open Sans"/>
                <a:cs typeface="Open Sans"/>
                <a:sym typeface="Open Sans"/>
              </a:rPr>
              <a:t>Entropy decay keeps the agent exploring so it doesn’t get stuck in a bad strategy early.</a:t>
            </a:r>
          </a:p>
          <a:p>
            <a:pPr marL="0" lvl="0" indent="0" algn="just">
              <a:lnSpc>
                <a:spcPts val="3450"/>
              </a:lnSpc>
            </a:pPr>
            <a:endParaRPr lang="en-US" sz="2699">
              <a:solidFill>
                <a:srgbClr val="000000"/>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2022517"/>
            <a:chOff x="0" y="0"/>
            <a:chExt cx="4816593" cy="532679"/>
          </a:xfrm>
        </p:grpSpPr>
        <p:sp>
          <p:nvSpPr>
            <p:cNvPr id="3" name="Freeform 3"/>
            <p:cNvSpPr/>
            <p:nvPr/>
          </p:nvSpPr>
          <p:spPr>
            <a:xfrm>
              <a:off x="0" y="0"/>
              <a:ext cx="4816592" cy="532679"/>
            </a:xfrm>
            <a:custGeom>
              <a:avLst/>
              <a:gdLst/>
              <a:ahLst/>
              <a:cxnLst/>
              <a:rect l="l" t="t" r="r" b="b"/>
              <a:pathLst>
                <a:path w="4816592" h="532679">
                  <a:moveTo>
                    <a:pt x="0" y="0"/>
                  </a:moveTo>
                  <a:lnTo>
                    <a:pt x="4816592" y="0"/>
                  </a:lnTo>
                  <a:lnTo>
                    <a:pt x="4816592" y="532679"/>
                  </a:lnTo>
                  <a:lnTo>
                    <a:pt x="0" y="532679"/>
                  </a:lnTo>
                  <a:close/>
                </a:path>
              </a:pathLst>
            </a:custGeom>
            <a:solidFill>
              <a:srgbClr val="0345E4"/>
            </a:solidFill>
          </p:spPr>
        </p:sp>
        <p:sp>
          <p:nvSpPr>
            <p:cNvPr id="4" name="TextBox 4"/>
            <p:cNvSpPr txBox="1"/>
            <p:nvPr/>
          </p:nvSpPr>
          <p:spPr>
            <a:xfrm>
              <a:off x="0" y="-38100"/>
              <a:ext cx="4816593" cy="57077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3528706"/>
            <a:ext cx="9554968" cy="5697150"/>
          </a:xfrm>
          <a:custGeom>
            <a:avLst/>
            <a:gdLst/>
            <a:ahLst/>
            <a:cxnLst/>
            <a:rect l="l" t="t" r="r" b="b"/>
            <a:pathLst>
              <a:path w="9554968" h="5697150">
                <a:moveTo>
                  <a:pt x="0" y="0"/>
                </a:moveTo>
                <a:lnTo>
                  <a:pt x="9554968" y="0"/>
                </a:lnTo>
                <a:lnTo>
                  <a:pt x="9554968" y="5697150"/>
                </a:lnTo>
                <a:lnTo>
                  <a:pt x="0" y="5697150"/>
                </a:lnTo>
                <a:lnTo>
                  <a:pt x="0" y="0"/>
                </a:lnTo>
                <a:close/>
              </a:path>
            </a:pathLst>
          </a:custGeom>
          <a:blipFill>
            <a:blip r:embed="rId2"/>
            <a:stretch>
              <a:fillRect/>
            </a:stretch>
          </a:blipFill>
        </p:spPr>
      </p:sp>
      <p:sp>
        <p:nvSpPr>
          <p:cNvPr id="6" name="Freeform 6"/>
          <p:cNvSpPr/>
          <p:nvPr/>
        </p:nvSpPr>
        <p:spPr>
          <a:xfrm>
            <a:off x="9144000" y="3528706"/>
            <a:ext cx="9144000" cy="5697150"/>
          </a:xfrm>
          <a:custGeom>
            <a:avLst/>
            <a:gdLst/>
            <a:ahLst/>
            <a:cxnLst/>
            <a:rect l="l" t="t" r="r" b="b"/>
            <a:pathLst>
              <a:path w="9144000" h="5697150">
                <a:moveTo>
                  <a:pt x="0" y="0"/>
                </a:moveTo>
                <a:lnTo>
                  <a:pt x="9144000" y="0"/>
                </a:lnTo>
                <a:lnTo>
                  <a:pt x="9144000" y="5697150"/>
                </a:lnTo>
                <a:lnTo>
                  <a:pt x="0" y="5697150"/>
                </a:lnTo>
                <a:lnTo>
                  <a:pt x="0" y="0"/>
                </a:lnTo>
                <a:close/>
              </a:path>
            </a:pathLst>
          </a:custGeom>
          <a:blipFill>
            <a:blip r:embed="rId3"/>
            <a:stretch>
              <a:fillRect r="-4494"/>
            </a:stretch>
          </a:blipFill>
        </p:spPr>
      </p:sp>
      <p:sp>
        <p:nvSpPr>
          <p:cNvPr id="7" name="TextBox 7"/>
          <p:cNvSpPr txBox="1"/>
          <p:nvPr/>
        </p:nvSpPr>
        <p:spPr>
          <a:xfrm>
            <a:off x="732080" y="464523"/>
            <a:ext cx="10769833" cy="979171"/>
          </a:xfrm>
          <a:prstGeom prst="rect">
            <a:avLst/>
          </a:prstGeom>
        </p:spPr>
        <p:txBody>
          <a:bodyPr lIns="0" tIns="0" rIns="0" bIns="0" rtlCol="0" anchor="t">
            <a:spAutoFit/>
          </a:bodyPr>
          <a:lstStyle/>
          <a:p>
            <a:pPr algn="l">
              <a:lnSpc>
                <a:spcPts val="7979"/>
              </a:lnSpc>
            </a:pPr>
            <a:r>
              <a:rPr lang="en-US" sz="5699" b="1" spc="113">
                <a:solidFill>
                  <a:srgbClr val="FFFFFF"/>
                </a:solidFill>
                <a:latin typeface="Garet Bold"/>
                <a:ea typeface="Garet Bold"/>
                <a:cs typeface="Garet Bold"/>
                <a:sym typeface="Garet Bold"/>
              </a:rPr>
              <a:t>PPO STATISTICS:</a:t>
            </a:r>
          </a:p>
        </p:txBody>
      </p:sp>
      <p:sp>
        <p:nvSpPr>
          <p:cNvPr id="8" name="TextBox 8"/>
          <p:cNvSpPr txBox="1"/>
          <p:nvPr/>
        </p:nvSpPr>
        <p:spPr>
          <a:xfrm>
            <a:off x="473984" y="2455556"/>
            <a:ext cx="7399715" cy="587376"/>
          </a:xfrm>
          <a:prstGeom prst="rect">
            <a:avLst/>
          </a:prstGeom>
        </p:spPr>
        <p:txBody>
          <a:bodyPr lIns="0" tIns="0" rIns="0" bIns="0" rtlCol="0" anchor="t">
            <a:spAutoFit/>
          </a:bodyPr>
          <a:lstStyle/>
          <a:p>
            <a:pPr algn="l">
              <a:lnSpc>
                <a:spcPts val="4899"/>
              </a:lnSpc>
            </a:pPr>
            <a:r>
              <a:rPr lang="en-US" sz="3499" b="1">
                <a:solidFill>
                  <a:srgbClr val="000000"/>
                </a:solidFill>
                <a:latin typeface="Garet Ultra-Bold"/>
                <a:ea typeface="Garet Ultra-Bold"/>
                <a:cs typeface="Garet Ultra-Bold"/>
                <a:sym typeface="Garet Ultra-Bold"/>
              </a:rPr>
              <a:t>Evaluation return per ticker</a:t>
            </a:r>
          </a:p>
        </p:txBody>
      </p:sp>
      <p:sp>
        <p:nvSpPr>
          <p:cNvPr id="9" name="TextBox 9"/>
          <p:cNvSpPr txBox="1"/>
          <p:nvPr/>
        </p:nvSpPr>
        <p:spPr>
          <a:xfrm>
            <a:off x="10068776" y="2455556"/>
            <a:ext cx="7399715" cy="587376"/>
          </a:xfrm>
          <a:prstGeom prst="rect">
            <a:avLst/>
          </a:prstGeom>
        </p:spPr>
        <p:txBody>
          <a:bodyPr lIns="0" tIns="0" rIns="0" bIns="0" rtlCol="0" anchor="t">
            <a:spAutoFit/>
          </a:bodyPr>
          <a:lstStyle/>
          <a:p>
            <a:pPr algn="l">
              <a:lnSpc>
                <a:spcPts val="4899"/>
              </a:lnSpc>
            </a:pPr>
            <a:r>
              <a:rPr lang="en-US" sz="3499" b="1">
                <a:solidFill>
                  <a:srgbClr val="000000"/>
                </a:solidFill>
                <a:latin typeface="Garet Ultra-Bold"/>
                <a:ea typeface="Garet Ultra-Bold"/>
                <a:cs typeface="Garet Ultra-Bold"/>
                <a:sym typeface="Garet Ultra-Bold"/>
              </a:rPr>
              <a:t>Sharpe ratio per ticker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1900</Words>
  <Application>Microsoft Office PowerPoint</Application>
  <PresentationFormat>Custom</PresentationFormat>
  <Paragraphs>235</Paragraphs>
  <Slides>15</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vt:i4>
      </vt:variant>
    </vt:vector>
  </HeadingPairs>
  <TitlesOfParts>
    <vt:vector size="30" baseType="lpstr">
      <vt:lpstr>Arimo Bold</vt:lpstr>
      <vt:lpstr>Playfair Display Bold</vt:lpstr>
      <vt:lpstr>Arial</vt:lpstr>
      <vt:lpstr>Calibri</vt:lpstr>
      <vt:lpstr>Luktao</vt:lpstr>
      <vt:lpstr>Arimo</vt:lpstr>
      <vt:lpstr>DM Serif Display</vt:lpstr>
      <vt:lpstr>Garet</vt:lpstr>
      <vt:lpstr>Open Sans</vt:lpstr>
      <vt:lpstr>Luktao Bold</vt:lpstr>
      <vt:lpstr>Garet Bold</vt:lpstr>
      <vt:lpstr>Inter</vt:lpstr>
      <vt:lpstr>Garet Ultra-Bold</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Simple Modern Business Proposal Pitch Deck Presentation Design</dc:title>
  <dc:creator>i7</dc:creator>
  <cp:lastModifiedBy>Atul Saxena</cp:lastModifiedBy>
  <cp:revision>1</cp:revision>
  <dcterms:created xsi:type="dcterms:W3CDTF">2006-08-16T00:00:00Z</dcterms:created>
  <dcterms:modified xsi:type="dcterms:W3CDTF">2025-11-17T14:59:06Z</dcterms:modified>
  <dc:identifier>DAG4rWv3meo</dc:identifier>
</cp:coreProperties>
</file>